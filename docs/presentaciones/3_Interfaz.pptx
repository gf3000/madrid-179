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66" r:id="rId17"/>
    <p:sldId id="294" r:id="rId78"/>
    <p:sldId id="295" r:id="rId79"/>
    <p:sldId id="296" r:id="rId80"/>
    <p:sldId id="297" r:id="rId81"/>
    <p:sldId id="298" r:id="rId82"/>
    <p:sldId id="299" r:id="rId83"/>
    <p:sldId id="273" r:id="rId24"/>
  </p:sldIdLst>
  <p:sldSz cy="5143500" cx="9144000"/>
  <p:notesSz cx="6858000" cy="9144000"/>
  <p:embeddedFontLst>
    <p:embeddedFont>
      <p:font typeface="Raleway"/>
      <p:regular r:id="rId45"/>
      <p:bold r:id="rId46"/>
      <p:italic r:id="rId47"/>
      <p:boldItalic r:id="rId48"/>
    </p:embeddedFont>
    <p:embeddedFont>
      <p:font typeface="Libre Franklin"/>
      <p:regular r:id="rId49"/>
      <p:bold r:id="rId50"/>
      <p:italic r:id="rId51"/>
      <p:boldItalic r:id="rId52"/>
    </p:embeddedFont>
    <p:embeddedFont>
      <p:font typeface="Proxima Nova"/>
      <p:regular r:id="rId53"/>
      <p:bold r:id="rId54"/>
      <p:italic r:id="rId55"/>
      <p:boldItalic r:id="rId56"/>
    </p:embeddedFont>
    <p:embeddedFont>
      <p:font typeface="Roboto Medium"/>
      <p:regular r:id="rId57"/>
      <p:bold r:id="rId58"/>
      <p:italic r:id="rId59"/>
      <p:boldItalic r:id="rId60"/>
    </p:embeddedFont>
    <p:embeddedFont>
      <p:font typeface="Amatic SC"/>
      <p:regular r:id="rId61"/>
      <p:bold r:id="rId62"/>
    </p:embeddedFont>
    <p:embeddedFont>
      <p:font typeface="Poppins"/>
      <p:regular r:id="rId63"/>
      <p:bold r:id="rId64"/>
      <p:italic r:id="rId65"/>
      <p:boldItalic r:id="rId66"/>
    </p:embeddedFont>
    <p:embeddedFont>
      <p:font typeface="Montserrat"/>
      <p:regular r:id="rId67"/>
      <p:bold r:id="rId68"/>
      <p:italic r:id="rId69"/>
      <p:boldItalic r:id="rId70"/>
    </p:embeddedFont>
    <p:embeddedFont>
      <p:font typeface="Anaheim"/>
      <p:regular r:id="rId71"/>
      <p:bold r:id="rId72"/>
    </p:embeddedFont>
    <p:embeddedFont>
      <p:font typeface="Didact Gothic"/>
      <p:regular r:id="rId73"/>
    </p:embeddedFont>
    <p:embeddedFont>
      <p:font typeface="Century Gothic"/>
      <p:regular r:id="rId74"/>
      <p:bold r:id="rId75"/>
      <p:italic r:id="rId76"/>
      <p:boldItalic r:id="rId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9F7CF3-5320-4FC8-9165-706CE8641E20}">
  <a:tblStyle styleId="{3E9F7CF3-5320-4FC8-9165-706CE8641E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7" Type="http://schemas.openxmlformats.org/officeDocument/2006/relationships/slide" Target="slides/slide11.xml"/><Relationship Id="rId24" Type="http://schemas.openxmlformats.org/officeDocument/2006/relationships/slide" Target="slides/slide18.xml"/><Relationship Id="rId45" Type="http://schemas.openxmlformats.org/officeDocument/2006/relationships/font" Target="fonts/Raleway-regular.fntdata"/><Relationship Id="rId46" Type="http://schemas.openxmlformats.org/officeDocument/2006/relationships/font" Target="fonts/Raleway-bold.fntdata"/><Relationship Id="rId47" Type="http://schemas.openxmlformats.org/officeDocument/2006/relationships/font" Target="fonts/Raleway-italic.fntdata"/><Relationship Id="rId48" Type="http://schemas.openxmlformats.org/officeDocument/2006/relationships/font" Target="fonts/Raleway-boldItalic.fntdata"/><Relationship Id="rId49" Type="http://schemas.openxmlformats.org/officeDocument/2006/relationships/font" Target="fonts/LibreFranklin-regular.fntdata"/><Relationship Id="rId50" Type="http://schemas.openxmlformats.org/officeDocument/2006/relationships/font" Target="fonts/LibreFranklin-bold.fntdata"/><Relationship Id="rId51" Type="http://schemas.openxmlformats.org/officeDocument/2006/relationships/font" Target="fonts/LibreFranklin-italic.fntdata"/><Relationship Id="rId52" Type="http://schemas.openxmlformats.org/officeDocument/2006/relationships/font" Target="fonts/LibreFranklin-boldItalic.fntdata"/><Relationship Id="rId53" Type="http://schemas.openxmlformats.org/officeDocument/2006/relationships/font" Target="fonts/ProximaNova-regular.fntdata"/><Relationship Id="rId54" Type="http://schemas.openxmlformats.org/officeDocument/2006/relationships/font" Target="fonts/ProximaNova-bold.fntdata"/><Relationship Id="rId55" Type="http://schemas.openxmlformats.org/officeDocument/2006/relationships/font" Target="fonts/ProximaNova-italic.fntdata"/><Relationship Id="rId56" Type="http://schemas.openxmlformats.org/officeDocument/2006/relationships/font" Target="fonts/ProximaNova-boldItalic.fntdata"/><Relationship Id="rId57" Type="http://schemas.openxmlformats.org/officeDocument/2006/relationships/font" Target="fonts/RobotoMedium-regular.fntdata"/><Relationship Id="rId58" Type="http://schemas.openxmlformats.org/officeDocument/2006/relationships/font" Target="fonts/RobotoMedium-bold.fntdata"/><Relationship Id="rId59" Type="http://schemas.openxmlformats.org/officeDocument/2006/relationships/font" Target="fonts/RobotoMedium-italic.fntdata"/><Relationship Id="rId60" Type="http://schemas.openxmlformats.org/officeDocument/2006/relationships/font" Target="fonts/RobotoMedium-boldItalic.fntdata"/><Relationship Id="rId61" Type="http://schemas.openxmlformats.org/officeDocument/2006/relationships/font" Target="fonts/AmaticSC-regular.fntdata"/><Relationship Id="rId62" Type="http://schemas.openxmlformats.org/officeDocument/2006/relationships/font" Target="fonts/AmaticSC-bold.fntdata"/><Relationship Id="rId63" Type="http://schemas.openxmlformats.org/officeDocument/2006/relationships/font" Target="fonts/Poppins-regular.fntdata"/><Relationship Id="rId64" Type="http://schemas.openxmlformats.org/officeDocument/2006/relationships/font" Target="fonts/Poppins-bold.fntdata"/><Relationship Id="rId65" Type="http://schemas.openxmlformats.org/officeDocument/2006/relationships/font" Target="fonts/Poppins-italic.fntdata"/><Relationship Id="rId66" Type="http://schemas.openxmlformats.org/officeDocument/2006/relationships/font" Target="fonts/Poppins-boldItalic.fntdata"/><Relationship Id="rId67" Type="http://schemas.openxmlformats.org/officeDocument/2006/relationships/font" Target="fonts/Montserrat-regular.fntdata"/><Relationship Id="rId68" Type="http://schemas.openxmlformats.org/officeDocument/2006/relationships/font" Target="fonts/Montserrat-bold.fntdata"/><Relationship Id="rId69" Type="http://schemas.openxmlformats.org/officeDocument/2006/relationships/font" Target="fonts/Montserrat-italic.fntdata"/><Relationship Id="rId70" Type="http://schemas.openxmlformats.org/officeDocument/2006/relationships/font" Target="fonts/Montserrat-boldItalic.fntdata"/><Relationship Id="rId71" Type="http://schemas.openxmlformats.org/officeDocument/2006/relationships/font" Target="fonts/Anaheim-regular.fntdata"/><Relationship Id="rId72" Type="http://schemas.openxmlformats.org/officeDocument/2006/relationships/font" Target="fonts/Anaheim-bold.fntdata"/><Relationship Id="rId73" Type="http://schemas.openxmlformats.org/officeDocument/2006/relationships/font" Target="fonts/DidactGothic-regular.fntdata"/><Relationship Id="rId74" Type="http://schemas.openxmlformats.org/officeDocument/2006/relationships/font" Target="fonts/CenturyGothic-regular.fntdata"/><Relationship Id="rId75" Type="http://schemas.openxmlformats.org/officeDocument/2006/relationships/font" Target="fonts/CenturyGothic-bold.fntdata"/><Relationship Id="rId76" Type="http://schemas.openxmlformats.org/officeDocument/2006/relationships/font" Target="fonts/CenturyGothic-italic.fntdata"/><Relationship Id="rId77" Type="http://schemas.openxmlformats.org/officeDocument/2006/relationships/font" Target="fonts/CenturyGothic-boldItalic.fntdata"/><Relationship Id="rId78" Type="http://schemas.openxmlformats.org/officeDocument/2006/relationships/slide" Target="slides/slide39.xml"/><Relationship Id="rId79" Type="http://schemas.openxmlformats.org/officeDocument/2006/relationships/slide" Target="slides/slide40.xml"/><Relationship Id="rId80" Type="http://schemas.openxmlformats.org/officeDocument/2006/relationships/slide" Target="slides/slide41.xml"/><Relationship Id="rId81" Type="http://schemas.openxmlformats.org/officeDocument/2006/relationships/slide" Target="slides/slide42.xml"/><Relationship Id="rId82" Type="http://schemas.openxmlformats.org/officeDocument/2006/relationships/slide" Target="slides/slide43.xml"/><Relationship Id="rId83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Presentamos la interfaz: cómo llega cada usuario desde su perfil hasta una recomendación explicada.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b1022eedc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b1022eedc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El recorrido es corto: elegir perfil, describir el proyecto, explorar el mapa y abrir la ficha del municipio.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entrada separa los dos perfiles desde el principio. El perfil de empresa es el de acceso directo; el de la Administración requiere acceso institucional.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Cada control de esta pantalla tiene un efecto concreto en el cálculo: o descarta municipios o añade un peso visible.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mapa responde al instante a cada respuesta. Las cifras de la captura son ilustrativas: en la versión final vendrán del modelo.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 respuestas rápidas se traducen siempre igual, y la ficha muestra cuánto aporta cada preferencia.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Pensado para la dirección general responsable del reequilibrio territorial, la consejería de economía y empleo, los ayuntamientos y las agencias de desarrollo local.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dos perfiles comparten el mapa y los modelos; difieren en la pregunta: la empresa busca dónde ir, la Administración dónde actuar y con qué política.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355125" y="814525"/>
            <a:ext cx="6350100" cy="26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55125" y="3745850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12" name="Google Shape;12;p2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047175" y="2571975"/>
            <a:ext cx="4383600" cy="12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4047175" y="1321975"/>
            <a:ext cx="13326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/>
          <p:nvPr>
            <p:ph idx="3" type="pic"/>
          </p:nvPr>
        </p:nvSpPr>
        <p:spPr>
          <a:xfrm>
            <a:off x="713225" y="539500"/>
            <a:ext cx="27606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20000" y="1215750"/>
            <a:ext cx="7704000" cy="12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1" name="Google Shape;21;p4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22" name="Google Shape;22;p4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" name="Google Shape;23;p4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subTitle"/>
          </p:nvPr>
        </p:nvSpPr>
        <p:spPr>
          <a:xfrm>
            <a:off x="5056151" y="2574154"/>
            <a:ext cx="27690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2" type="subTitle"/>
          </p:nvPr>
        </p:nvSpPr>
        <p:spPr>
          <a:xfrm>
            <a:off x="1318850" y="2574154"/>
            <a:ext cx="27690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3" type="subTitle"/>
          </p:nvPr>
        </p:nvSpPr>
        <p:spPr>
          <a:xfrm>
            <a:off x="1318850" y="1771900"/>
            <a:ext cx="2769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4" type="subTitle"/>
          </p:nvPr>
        </p:nvSpPr>
        <p:spPr>
          <a:xfrm>
            <a:off x="5056153" y="1771900"/>
            <a:ext cx="2769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30" name="Google Shape;30;p5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31" name="Google Shape;31;p5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5" name="Google Shape;35;p6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36" name="Google Shape;36;p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7" name="Google Shape;37;p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811975" y="2001200"/>
            <a:ext cx="4294800" cy="22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811975" y="1017225"/>
            <a:ext cx="4294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7"/>
          <p:cNvSpPr/>
          <p:nvPr>
            <p:ph idx="2" type="pic"/>
          </p:nvPr>
        </p:nvSpPr>
        <p:spPr>
          <a:xfrm>
            <a:off x="5643775" y="539500"/>
            <a:ext cx="27870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2" name="Google Shape;42;p7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43" name="Google Shape;43;p7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4" name="Google Shape;44;p7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7" name="Google Shape;47;p8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48" name="Google Shape;48;p8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9" name="Google Shape;49;p8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53" name="Google Shape;53;p9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54" name="Google Shape;54;p9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5" name="Google Shape;55;p9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hasCustomPrompt="1" type="title"/>
          </p:nvPr>
        </p:nvSpPr>
        <p:spPr>
          <a:xfrm>
            <a:off x="1284000" y="1303775"/>
            <a:ext cx="6576000" cy="165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/>
          <p:nvPr>
            <p:ph idx="1" type="subTitle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62" name="Google Shape;62;p11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63" name="Google Shape;63;p11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4" name="Google Shape;64;p11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3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hasCustomPrompt="1" idx="2" type="title"/>
          </p:nvPr>
        </p:nvSpPr>
        <p:spPr>
          <a:xfrm>
            <a:off x="720000" y="1611324"/>
            <a:ext cx="734700" cy="504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/>
          <p:nvPr>
            <p:ph hasCustomPrompt="1" idx="3" type="title"/>
          </p:nvPr>
        </p:nvSpPr>
        <p:spPr>
          <a:xfrm>
            <a:off x="720000" y="3044627"/>
            <a:ext cx="734700" cy="504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/>
          <p:nvPr>
            <p:ph hasCustomPrompt="1" idx="4" type="title"/>
          </p:nvPr>
        </p:nvSpPr>
        <p:spPr>
          <a:xfrm>
            <a:off x="3419275" y="1611324"/>
            <a:ext cx="734700" cy="504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/>
          <p:nvPr>
            <p:ph hasCustomPrompt="1" idx="5" type="title"/>
          </p:nvPr>
        </p:nvSpPr>
        <p:spPr>
          <a:xfrm>
            <a:off x="3419275" y="3044627"/>
            <a:ext cx="734700" cy="504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/>
          <p:nvPr>
            <p:ph hasCustomPrompt="1" idx="6" type="title"/>
          </p:nvPr>
        </p:nvSpPr>
        <p:spPr>
          <a:xfrm>
            <a:off x="6118550" y="1611324"/>
            <a:ext cx="734700" cy="504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/>
          <p:nvPr>
            <p:ph hasCustomPrompt="1" idx="7" type="title"/>
          </p:nvPr>
        </p:nvSpPr>
        <p:spPr>
          <a:xfrm>
            <a:off x="6118550" y="3044627"/>
            <a:ext cx="734700" cy="504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/>
          <p:nvPr>
            <p:ph idx="1" type="subTitle"/>
          </p:nvPr>
        </p:nvSpPr>
        <p:spPr>
          <a:xfrm>
            <a:off x="720000" y="2293450"/>
            <a:ext cx="2305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8" type="subTitle"/>
          </p:nvPr>
        </p:nvSpPr>
        <p:spPr>
          <a:xfrm>
            <a:off x="3419275" y="2293450"/>
            <a:ext cx="2305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9" type="subTitle"/>
          </p:nvPr>
        </p:nvSpPr>
        <p:spPr>
          <a:xfrm>
            <a:off x="6118550" y="2293450"/>
            <a:ext cx="2305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13" type="subTitle"/>
          </p:nvPr>
        </p:nvSpPr>
        <p:spPr>
          <a:xfrm>
            <a:off x="720000" y="3726825"/>
            <a:ext cx="23814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idx="14" type="subTitle"/>
          </p:nvPr>
        </p:nvSpPr>
        <p:spPr>
          <a:xfrm>
            <a:off x="3419275" y="3726825"/>
            <a:ext cx="2305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15" type="subTitle"/>
          </p:nvPr>
        </p:nvSpPr>
        <p:spPr>
          <a:xfrm>
            <a:off x="6118550" y="3726825"/>
            <a:ext cx="24792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80" name="Google Shape;80;p13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81" name="Google Shape;81;p13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1355163" y="7312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" type="subTitle"/>
          </p:nvPr>
        </p:nvSpPr>
        <p:spPr>
          <a:xfrm>
            <a:off x="1355125" y="19844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14"/>
          <p:cNvSpPr txBox="1"/>
          <p:nvPr/>
        </p:nvSpPr>
        <p:spPr>
          <a:xfrm>
            <a:off x="1355125" y="3611950"/>
            <a:ext cx="48105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</a:t>
            </a:r>
            <a:r>
              <a:rPr lang="en" sz="10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b="1" sz="1000" u="sng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87" name="Google Shape;87;p14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88" name="Google Shape;88;p14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5"/>
          <p:cNvGrpSpPr/>
          <p:nvPr/>
        </p:nvGrpSpPr>
        <p:grpSpPr>
          <a:xfrm rot="10800000">
            <a:off x="8415525" y="0"/>
            <a:ext cx="728475" cy="5163250"/>
            <a:chOff x="-8400" y="0"/>
            <a:chExt cx="728475" cy="5163250"/>
          </a:xfrm>
        </p:grpSpPr>
        <p:sp>
          <p:nvSpPr>
            <p:cNvPr id="92" name="Google Shape;92;p15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6"/>
          <p:cNvGrpSpPr/>
          <p:nvPr/>
        </p:nvGrpSpPr>
        <p:grpSpPr>
          <a:xfrm rot="10800000">
            <a:off x="0" y="4830900"/>
            <a:ext cx="9144000" cy="312600"/>
            <a:chOff x="0" y="0"/>
            <a:chExt cx="9144000" cy="312600"/>
          </a:xfrm>
        </p:grpSpPr>
        <p:sp>
          <p:nvSpPr>
            <p:cNvPr id="96" name="Google Shape;96;p1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○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■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○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■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○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■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ctrTitle"/>
          </p:nvPr>
        </p:nvSpPr>
        <p:spPr>
          <a:xfrm>
            <a:off x="1355125" y="814525"/>
            <a:ext cx="6350100" cy="26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Madrid 179</a:t>
            </a:r>
          </a:p>
        </p:txBody>
      </p:sp>
      <p:sp>
        <p:nvSpPr>
          <p:cNvPr id="109" name="Google Shape;109;p20"/>
          <p:cNvSpPr txBox="1"/>
          <p:nvPr>
            <p:ph idx="1" type="subTitle"/>
          </p:nvPr>
        </p:nvSpPr>
        <p:spPr>
          <a:xfrm>
            <a:off x="1355125" y="3745850"/>
            <a:ext cx="585216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Interfaz: del perfil al mapa de oportunidades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Gregorio García Velasco (UC3M) · Guillermo Franco Gimeno (UPM)</a:t>
            </a:r>
          </a:p>
        </p:txBody>
      </p:sp>
      <p:cxnSp>
        <p:nvCxnSpPr>
          <p:cNvPr id="110" name="Google Shape;110;p20"/>
          <p:cNvCxnSpPr/>
          <p:nvPr/>
        </p:nvCxnSpPr>
        <p:spPr>
          <a:xfrm>
            <a:off x="1431100" y="3636300"/>
            <a:ext cx="583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 recorrido en cuatro pasos</a:t>
            </a:r>
          </a:p>
        </p:txBody>
      </p:sp>
      <p:sp>
        <p:nvSpPr>
          <p:cNvPr id="466" name="Google Shape;466;p30"/>
          <p:cNvSpPr/>
          <p:nvPr/>
        </p:nvSpPr>
        <p:spPr>
          <a:xfrm>
            <a:off x="2567766" y="3537723"/>
            <a:ext cx="1066283" cy="1066283"/>
          </a:xfrm>
          <a:custGeom>
            <a:rect b="b" l="l" r="r" t="t"/>
            <a:pathLst>
              <a:path extrusionOk="0" h="369" w="370">
                <a:moveTo>
                  <a:pt x="0" y="184"/>
                </a:moveTo>
                <a:lnTo>
                  <a:pt x="0" y="184"/>
                </a:lnTo>
                <a:cubicBezTo>
                  <a:pt x="0" y="286"/>
                  <a:pt x="82" y="368"/>
                  <a:pt x="185" y="368"/>
                </a:cubicBezTo>
                <a:lnTo>
                  <a:pt x="185" y="368"/>
                </a:lnTo>
                <a:cubicBezTo>
                  <a:pt x="285" y="368"/>
                  <a:pt x="369" y="286"/>
                  <a:pt x="369" y="184"/>
                </a:cubicBezTo>
                <a:lnTo>
                  <a:pt x="369" y="184"/>
                </a:lnTo>
                <a:cubicBezTo>
                  <a:pt x="369" y="81"/>
                  <a:pt x="285" y="0"/>
                  <a:pt x="185" y="0"/>
                </a:cubicBezTo>
                <a:lnTo>
                  <a:pt x="185" y="0"/>
                </a:lnTo>
                <a:cubicBezTo>
                  <a:pt x="82" y="0"/>
                  <a:pt x="0" y="81"/>
                  <a:pt x="0" y="184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Paso 1</a:t>
            </a:r>
          </a:p>
        </p:txBody>
      </p:sp>
      <p:sp>
        <p:nvSpPr>
          <p:cNvPr id="467" name="Google Shape;467;p30"/>
          <p:cNvSpPr/>
          <p:nvPr/>
        </p:nvSpPr>
        <p:spPr>
          <a:xfrm>
            <a:off x="3462203" y="2781601"/>
            <a:ext cx="1066283" cy="1066283"/>
          </a:xfrm>
          <a:custGeom>
            <a:rect b="b" l="l" r="r" t="t"/>
            <a:pathLst>
              <a:path extrusionOk="0" h="369" w="370">
                <a:moveTo>
                  <a:pt x="0" y="184"/>
                </a:moveTo>
                <a:lnTo>
                  <a:pt x="0" y="184"/>
                </a:lnTo>
                <a:cubicBezTo>
                  <a:pt x="0" y="286"/>
                  <a:pt x="82" y="368"/>
                  <a:pt x="185" y="368"/>
                </a:cubicBezTo>
                <a:lnTo>
                  <a:pt x="185" y="368"/>
                </a:lnTo>
                <a:cubicBezTo>
                  <a:pt x="285" y="368"/>
                  <a:pt x="369" y="286"/>
                  <a:pt x="369" y="184"/>
                </a:cubicBezTo>
                <a:lnTo>
                  <a:pt x="369" y="184"/>
                </a:lnTo>
                <a:cubicBezTo>
                  <a:pt x="369" y="81"/>
                  <a:pt x="285" y="0"/>
                  <a:pt x="185" y="0"/>
                </a:cubicBezTo>
                <a:lnTo>
                  <a:pt x="185" y="0"/>
                </a:lnTo>
                <a:cubicBezTo>
                  <a:pt x="82" y="0"/>
                  <a:pt x="0" y="81"/>
                  <a:pt x="0" y="18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Paso 2</a:t>
            </a:r>
          </a:p>
        </p:txBody>
      </p:sp>
      <p:sp>
        <p:nvSpPr>
          <p:cNvPr id="468" name="Google Shape;468;p30"/>
          <p:cNvSpPr/>
          <p:nvPr/>
        </p:nvSpPr>
        <p:spPr>
          <a:xfrm>
            <a:off x="4614828" y="2781601"/>
            <a:ext cx="1066283" cy="1066283"/>
          </a:xfrm>
          <a:custGeom>
            <a:rect b="b" l="l" r="r" t="t"/>
            <a:pathLst>
              <a:path extrusionOk="0" h="369" w="370">
                <a:moveTo>
                  <a:pt x="0" y="184"/>
                </a:moveTo>
                <a:lnTo>
                  <a:pt x="0" y="184"/>
                </a:lnTo>
                <a:cubicBezTo>
                  <a:pt x="0" y="286"/>
                  <a:pt x="82" y="368"/>
                  <a:pt x="185" y="368"/>
                </a:cubicBezTo>
                <a:lnTo>
                  <a:pt x="185" y="368"/>
                </a:lnTo>
                <a:cubicBezTo>
                  <a:pt x="285" y="368"/>
                  <a:pt x="369" y="286"/>
                  <a:pt x="369" y="184"/>
                </a:cubicBezTo>
                <a:lnTo>
                  <a:pt x="369" y="184"/>
                </a:lnTo>
                <a:cubicBezTo>
                  <a:pt x="369" y="81"/>
                  <a:pt x="285" y="0"/>
                  <a:pt x="185" y="0"/>
                </a:cubicBezTo>
                <a:lnTo>
                  <a:pt x="185" y="0"/>
                </a:lnTo>
                <a:cubicBezTo>
                  <a:pt x="82" y="0"/>
                  <a:pt x="0" y="81"/>
                  <a:pt x="0" y="18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Paso 3</a:t>
            </a:r>
          </a:p>
        </p:txBody>
      </p:sp>
      <p:sp>
        <p:nvSpPr>
          <p:cNvPr id="469" name="Google Shape;469;p30"/>
          <p:cNvSpPr/>
          <p:nvPr/>
        </p:nvSpPr>
        <p:spPr>
          <a:xfrm>
            <a:off x="5509266" y="3537723"/>
            <a:ext cx="1066283" cy="1066283"/>
          </a:xfrm>
          <a:custGeom>
            <a:rect b="b" l="l" r="r" t="t"/>
            <a:pathLst>
              <a:path extrusionOk="0" h="369" w="370">
                <a:moveTo>
                  <a:pt x="0" y="184"/>
                </a:moveTo>
                <a:lnTo>
                  <a:pt x="0" y="184"/>
                </a:lnTo>
                <a:cubicBezTo>
                  <a:pt x="0" y="286"/>
                  <a:pt x="82" y="368"/>
                  <a:pt x="185" y="368"/>
                </a:cubicBezTo>
                <a:lnTo>
                  <a:pt x="185" y="368"/>
                </a:lnTo>
                <a:cubicBezTo>
                  <a:pt x="285" y="368"/>
                  <a:pt x="369" y="286"/>
                  <a:pt x="369" y="184"/>
                </a:cubicBezTo>
                <a:lnTo>
                  <a:pt x="369" y="184"/>
                </a:lnTo>
                <a:cubicBezTo>
                  <a:pt x="369" y="81"/>
                  <a:pt x="285" y="0"/>
                  <a:pt x="185" y="0"/>
                </a:cubicBezTo>
                <a:lnTo>
                  <a:pt x="185" y="0"/>
                </a:lnTo>
                <a:cubicBezTo>
                  <a:pt x="82" y="0"/>
                  <a:pt x="0" y="81"/>
                  <a:pt x="0" y="184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Paso 4</a:t>
            </a:r>
          </a:p>
        </p:txBody>
      </p:sp>
      <p:cxnSp>
        <p:nvCxnSpPr>
          <p:cNvPr id="470" name="Google Shape;470;p30"/>
          <p:cNvCxnSpPr/>
          <p:nvPr/>
        </p:nvCxnSpPr>
        <p:spPr>
          <a:xfrm>
            <a:off x="2014915" y="3026756"/>
            <a:ext cx="638400" cy="576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800000"/>
            <a:headEnd len="sm" w="sm" type="oval"/>
            <a:tailEnd len="sm" w="sm" type="none"/>
          </a:ln>
        </p:spPr>
      </p:cxnSp>
      <p:cxnSp>
        <p:nvCxnSpPr>
          <p:cNvPr id="471" name="Google Shape;471;p30"/>
          <p:cNvCxnSpPr/>
          <p:nvPr/>
        </p:nvCxnSpPr>
        <p:spPr>
          <a:xfrm flipH="1">
            <a:off x="6473890" y="3035390"/>
            <a:ext cx="655200" cy="568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oval"/>
            <a:tailEnd len="sm" w="sm" type="none"/>
          </a:ln>
        </p:spPr>
      </p:cxnSp>
      <p:cxnSp>
        <p:nvCxnSpPr>
          <p:cNvPr id="472" name="Google Shape;472;p30"/>
          <p:cNvCxnSpPr/>
          <p:nvPr/>
        </p:nvCxnSpPr>
        <p:spPr>
          <a:xfrm>
            <a:off x="3556826" y="2271484"/>
            <a:ext cx="228000" cy="4509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800000"/>
            <a:headEnd len="sm" w="sm" type="oval"/>
            <a:tailEnd len="sm" w="sm" type="none"/>
          </a:ln>
        </p:spPr>
      </p:cxnSp>
      <p:cxnSp>
        <p:nvCxnSpPr>
          <p:cNvPr id="473" name="Google Shape;473;p30"/>
          <p:cNvCxnSpPr/>
          <p:nvPr/>
        </p:nvCxnSpPr>
        <p:spPr>
          <a:xfrm flipH="1">
            <a:off x="5338693" y="2267075"/>
            <a:ext cx="220200" cy="455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oval"/>
            <a:tailEnd len="sm" w="sm" type="none"/>
          </a:ln>
        </p:spPr>
      </p:cxnSp>
      <p:sp>
        <p:nvSpPr>
          <p:cNvPr id="474" name="Google Shape;474;p30"/>
          <p:cNvSpPr txBox="1"/>
          <p:nvPr>
            <p:ph idx="4294967295" type="subTitle"/>
          </p:nvPr>
        </p:nvSpPr>
        <p:spPr>
          <a:xfrm>
            <a:off x="720000" y="1939775"/>
            <a:ext cx="1458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Poppins"/>
                <a:ea typeface="Poppins"/>
                <a:cs typeface="Poppins"/>
                <a:sym typeface="Poppins"/>
              </a:rPr>
              <a:t>Perfil</a:t>
            </a:r>
          </a:p>
        </p:txBody>
      </p:sp>
      <p:sp>
        <p:nvSpPr>
          <p:cNvPr id="475" name="Google Shape;475;p30"/>
          <p:cNvSpPr txBox="1"/>
          <p:nvPr>
            <p:ph idx="4294967295" type="subTitle"/>
          </p:nvPr>
        </p:nvSpPr>
        <p:spPr>
          <a:xfrm>
            <a:off x="720000" y="2234975"/>
            <a:ext cx="1458000" cy="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Empresa o Administración</a:t>
            </a:r>
          </a:p>
        </p:txBody>
      </p:sp>
      <p:sp>
        <p:nvSpPr>
          <p:cNvPr id="476" name="Google Shape;476;p30"/>
          <p:cNvSpPr txBox="1"/>
          <p:nvPr>
            <p:ph idx="4294967295" type="subTitle"/>
          </p:nvPr>
        </p:nvSpPr>
        <p:spPr>
          <a:xfrm>
            <a:off x="2178000" y="1216638"/>
            <a:ext cx="1458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Poppins"/>
                <a:ea typeface="Poppins"/>
                <a:cs typeface="Poppins"/>
                <a:sym typeface="Poppins"/>
              </a:rPr>
              <a:t>Mi proyecto</a:t>
            </a:r>
          </a:p>
        </p:txBody>
      </p:sp>
      <p:sp>
        <p:nvSpPr>
          <p:cNvPr id="477" name="Google Shape;477;p30"/>
          <p:cNvSpPr txBox="1"/>
          <p:nvPr>
            <p:ph idx="4294967295" type="subTitle"/>
          </p:nvPr>
        </p:nvSpPr>
        <p:spPr>
          <a:xfrm>
            <a:off x="2178000" y="1511838"/>
            <a:ext cx="1458000" cy="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Necesidades que se vuelven filtros y pesos</a:t>
            </a:r>
          </a:p>
        </p:txBody>
      </p:sp>
      <p:sp>
        <p:nvSpPr>
          <p:cNvPr id="478" name="Google Shape;478;p30"/>
          <p:cNvSpPr txBox="1"/>
          <p:nvPr>
            <p:ph idx="4294967295" type="subTitle"/>
          </p:nvPr>
        </p:nvSpPr>
        <p:spPr>
          <a:xfrm>
            <a:off x="5558900" y="1216638"/>
            <a:ext cx="1458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Poppins"/>
                <a:ea typeface="Poppins"/>
                <a:cs typeface="Poppins"/>
                <a:sym typeface="Poppins"/>
              </a:rPr>
              <a:t>Mapa 3D</a:t>
            </a:r>
          </a:p>
        </p:txBody>
      </p:sp>
      <p:sp>
        <p:nvSpPr>
          <p:cNvPr id="479" name="Google Shape;479;p30"/>
          <p:cNvSpPr txBox="1"/>
          <p:nvPr>
            <p:ph idx="4294967295" type="subTitle"/>
          </p:nvPr>
        </p:nvSpPr>
        <p:spPr>
          <a:xfrm>
            <a:off x="5558900" y="1511838"/>
            <a:ext cx="1458000" cy="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La altura es la puntuación; preguntas que afinan</a:t>
            </a:r>
          </a:p>
        </p:txBody>
      </p:sp>
      <p:sp>
        <p:nvSpPr>
          <p:cNvPr id="480" name="Google Shape;480;p30"/>
          <p:cNvSpPr txBox="1"/>
          <p:nvPr>
            <p:ph idx="4294967295" type="subTitle"/>
          </p:nvPr>
        </p:nvSpPr>
        <p:spPr>
          <a:xfrm>
            <a:off x="6972775" y="1939775"/>
            <a:ext cx="1458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Poppins"/>
                <a:ea typeface="Poppins"/>
                <a:cs typeface="Poppins"/>
                <a:sym typeface="Poppins"/>
              </a:rPr>
              <a:t>Ficha e informe</a:t>
            </a:r>
          </a:p>
        </p:txBody>
      </p:sp>
      <p:sp>
        <p:nvSpPr>
          <p:cNvPr id="481" name="Google Shape;481;p30"/>
          <p:cNvSpPr txBox="1"/>
          <p:nvPr>
            <p:ph idx="4294967295" type="subTitle"/>
          </p:nvPr>
        </p:nvSpPr>
        <p:spPr>
          <a:xfrm>
            <a:off x="6972775" y="2234975"/>
            <a:ext cx="1458000" cy="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Desglose explicable y PDF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7"/>
          <p:cNvSpPr txBox="1"/>
          <p:nvPr>
            <p:ph type="title"/>
          </p:nvPr>
        </p:nvSpPr>
        <p:spPr>
          <a:xfrm>
            <a:off x="1355163" y="7312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Gracias</a:t>
            </a:r>
          </a:p>
        </p:txBody>
      </p:sp>
      <p:sp>
        <p:nvSpPr>
          <p:cNvPr id="735" name="Google Shape;735;p37"/>
          <p:cNvSpPr txBox="1"/>
          <p:nvPr>
            <p:ph idx="1" type="subTitle"/>
          </p:nvPr>
        </p:nvSpPr>
        <p:spPr>
          <a:xfrm>
            <a:off x="1355125" y="19844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Gregorio García Velasco · UC3M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Guillermo Franco Gimeno · UPM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Madrid 179 · Interfaz</a:t>
            </a:r>
          </a:p>
        </p:txBody>
      </p:sp>
      <p:cxnSp>
        <p:nvCxnSpPr>
          <p:cNvPr id="737" name="Google Shape;737;p37"/>
          <p:cNvCxnSpPr/>
          <p:nvPr/>
        </p:nvCxnSpPr>
        <p:spPr>
          <a:xfrm>
            <a:off x="1431100" y="1838775"/>
            <a:ext cx="583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Pantalla 1: </a:t>
            </a:r>
            <a:r>
              <a:rPr b="0"/>
              <a:t>inicio y perfil</a:t>
            </a:r>
          </a:p>
        </p:txBody>
      </p:sp>
      <p:pic>
        <p:nvPicPr>
          <p:cNvPr id="3" name="Picture 2" descr="interfaz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207008"/>
            <a:ext cx="3868271" cy="3474720"/>
          </a:xfrm>
          <a:prstGeom prst="rect">
            <a:avLst/>
          </a:prstGeom>
          <a:ln w="12700">
            <a:solidFill>
              <a:srgbClr val="C2CDE5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722376" y="4709160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55B68"/>
                </a:solidFill>
                <a:latin typeface="Didact Gothic"/>
              </a:rPr>
              <a:t>Prototipo de interfaz · las cifras de la pantalla son ilustrativas</a:t>
            </a:r>
          </a:p>
        </p:txBody>
      </p:sp>
      <p:sp>
        <p:nvSpPr>
          <p:cNvPr id="5" name="Oval 4"/>
          <p:cNvSpPr/>
          <p:nvPr/>
        </p:nvSpPr>
        <p:spPr>
          <a:xfrm>
            <a:off x="4901183" y="1298448"/>
            <a:ext cx="347472" cy="347472"/>
          </a:xfrm>
          <a:prstGeom prst="ellipse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129844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74768"/>
                </a:solidFill>
                <a:latin typeface="Poppins"/>
              </a:rPr>
              <a:t>Dos perfiles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60020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Empresas con acceso directo; Administración con acceso institucional.</a:t>
            </a:r>
          </a:p>
        </p:txBody>
      </p:sp>
      <p:sp>
        <p:nvSpPr>
          <p:cNvPr id="8" name="Oval 7"/>
          <p:cNvSpPr/>
          <p:nvPr/>
        </p:nvSpPr>
        <p:spPr>
          <a:xfrm>
            <a:off x="4901183" y="2148840"/>
            <a:ext cx="347472" cy="347472"/>
          </a:xfrm>
          <a:prstGeom prst="ellipse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14884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74768"/>
                </a:solidFill>
                <a:latin typeface="Poppins"/>
              </a:rPr>
              <a:t>Plantillas rápidas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450592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Startup, comercio, sede corporativa o logística como punto de partida.</a:t>
            </a:r>
          </a:p>
        </p:txBody>
      </p:sp>
      <p:sp>
        <p:nvSpPr>
          <p:cNvPr id="11" name="Oval 10"/>
          <p:cNvSpPr/>
          <p:nvPr/>
        </p:nvSpPr>
        <p:spPr>
          <a:xfrm>
            <a:off x="4901183" y="2999232"/>
            <a:ext cx="347472" cy="347472"/>
          </a:xfrm>
          <a:prstGeom prst="ellipse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9992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74768"/>
                </a:solidFill>
                <a:latin typeface="Poppins"/>
              </a:rPr>
              <a:t>Servicio público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30098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179 municipios y datos oficiales de la Comunidad de Madrid.</a:t>
            </a:r>
          </a:p>
        </p:txBody>
      </p:sp>
      <p:sp>
        <p:nvSpPr>
          <p:cNvPr id="14" name="Oval 13"/>
          <p:cNvSpPr/>
          <p:nvPr/>
        </p:nvSpPr>
        <p:spPr>
          <a:xfrm>
            <a:off x="4901183" y="3849624"/>
            <a:ext cx="347472" cy="347472"/>
          </a:xfrm>
          <a:prstGeom prst="ellipse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8496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74768"/>
                </a:solidFill>
                <a:latin typeface="Poppins"/>
              </a:rPr>
              <a:t>Ayuda siempre visible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4151376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Atención 012 y guía rápida en la cabecera.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Pantalla 2: </a:t>
            </a:r>
            <a:r>
              <a:rPr b="0"/>
              <a:t>mi proyecto</a:t>
            </a:r>
          </a:p>
        </p:txBody>
      </p:sp>
      <p:pic>
        <p:nvPicPr>
          <p:cNvPr id="3" name="Picture 2" descr="interfaz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207008"/>
            <a:ext cx="3873843" cy="3474720"/>
          </a:xfrm>
          <a:prstGeom prst="rect">
            <a:avLst/>
          </a:prstGeom>
          <a:ln w="12700">
            <a:solidFill>
              <a:srgbClr val="C2CDE5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722376" y="4709160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55B68"/>
                </a:solidFill>
                <a:latin typeface="Didact Gothic"/>
              </a:rPr>
              <a:t>Prototipo de interfaz · las cifras de la pantalla son ilustrativas</a:t>
            </a:r>
          </a:p>
        </p:txBody>
      </p:sp>
      <p:sp>
        <p:nvSpPr>
          <p:cNvPr id="5" name="Oval 4"/>
          <p:cNvSpPr/>
          <p:nvPr/>
        </p:nvSpPr>
        <p:spPr>
          <a:xfrm>
            <a:off x="4901183" y="1298448"/>
            <a:ext cx="347472" cy="347472"/>
          </a:xfrm>
          <a:prstGeom prst="ellipse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129844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74768"/>
                </a:solidFill>
                <a:latin typeface="Poppins"/>
              </a:rPr>
              <a:t>Tipología y detalle libre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60020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Un LLM traduce la descripción en filtros duros y preferencias.</a:t>
            </a:r>
          </a:p>
        </p:txBody>
      </p:sp>
      <p:sp>
        <p:nvSpPr>
          <p:cNvPr id="8" name="Oval 7"/>
          <p:cNvSpPr/>
          <p:nvPr/>
        </p:nvSpPr>
        <p:spPr>
          <a:xfrm>
            <a:off x="4901183" y="2148840"/>
            <a:ext cx="347472" cy="347472"/>
          </a:xfrm>
          <a:prstGeom prst="ellipse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14884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74768"/>
                </a:solidFill>
                <a:latin typeface="Poppins"/>
              </a:rPr>
              <a:t>Presupuesto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450592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Filtro duro o peso de coste, según lo que indique el usuario.</a:t>
            </a:r>
          </a:p>
        </p:txBody>
      </p:sp>
      <p:sp>
        <p:nvSpPr>
          <p:cNvPr id="11" name="Oval 10"/>
          <p:cNvSpPr/>
          <p:nvPr/>
        </p:nvSpPr>
        <p:spPr>
          <a:xfrm>
            <a:off x="4901183" y="2999232"/>
            <a:ext cx="347472" cy="347472"/>
          </a:xfrm>
          <a:prstGeom prst="ellipse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9992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74768"/>
                </a:solidFill>
                <a:latin typeface="Poppins"/>
              </a:rPr>
              <a:t>Conexión prioritaria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30098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Preferencia de transporte: distancia a la estación más cercana.</a:t>
            </a:r>
          </a:p>
        </p:txBody>
      </p:sp>
      <p:sp>
        <p:nvSpPr>
          <p:cNvPr id="14" name="Oval 13"/>
          <p:cNvSpPr/>
          <p:nvPr/>
        </p:nvSpPr>
        <p:spPr>
          <a:xfrm>
            <a:off x="4901183" y="3849624"/>
            <a:ext cx="347472" cy="347472"/>
          </a:xfrm>
          <a:prstGeom prst="ellipse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8496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74768"/>
                </a:solidFill>
                <a:latin typeface="Poppins"/>
              </a:rPr>
              <a:t>Factores de ponderación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4151376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Pesos explícitos y calibrados, mostrados por separado.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Pantalla 3: </a:t>
            </a:r>
            <a:r>
              <a:rPr b="0"/>
              <a:t>mapa de oportunidades</a:t>
            </a:r>
          </a:p>
        </p:txBody>
      </p:sp>
      <p:pic>
        <p:nvPicPr>
          <p:cNvPr id="3" name="Picture 2" descr="interfaz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207008"/>
            <a:ext cx="3886174" cy="3474720"/>
          </a:xfrm>
          <a:prstGeom prst="rect">
            <a:avLst/>
          </a:prstGeom>
          <a:ln w="12700">
            <a:solidFill>
              <a:srgbClr val="C2CDE5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722376" y="4709160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55B68"/>
                </a:solidFill>
                <a:latin typeface="Didact Gothic"/>
              </a:rPr>
              <a:t>Prototipo de interfaz · las cifras de la pantalla son ilustrativas</a:t>
            </a:r>
          </a:p>
        </p:txBody>
      </p:sp>
      <p:sp>
        <p:nvSpPr>
          <p:cNvPr id="5" name="Oval 4"/>
          <p:cNvSpPr/>
          <p:nvPr/>
        </p:nvSpPr>
        <p:spPr>
          <a:xfrm>
            <a:off x="4901183" y="1298448"/>
            <a:ext cx="347472" cy="347472"/>
          </a:xfrm>
          <a:prstGeom prst="ellipse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129844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74768"/>
                </a:solidFill>
                <a:latin typeface="Poppins"/>
              </a:rPr>
              <a:t>Altura del 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60020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Es la puntuación del municipio; los descartados quedan aplanados.</a:t>
            </a:r>
          </a:p>
        </p:txBody>
      </p:sp>
      <p:sp>
        <p:nvSpPr>
          <p:cNvPr id="8" name="Oval 7"/>
          <p:cNvSpPr/>
          <p:nvPr/>
        </p:nvSpPr>
        <p:spPr>
          <a:xfrm>
            <a:off x="4901183" y="2148840"/>
            <a:ext cx="347472" cy="347472"/>
          </a:xfrm>
          <a:prstGeom prst="ellipse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14884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74768"/>
                </a:solidFill>
                <a:latin typeface="Poppins"/>
              </a:rPr>
              <a:t>Afinar resultado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450592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La siguiente pregunta es la que más desempata a los candidatos.</a:t>
            </a:r>
          </a:p>
        </p:txBody>
      </p:sp>
      <p:sp>
        <p:nvSpPr>
          <p:cNvPr id="11" name="Oval 10"/>
          <p:cNvSpPr/>
          <p:nvPr/>
        </p:nvSpPr>
        <p:spPr>
          <a:xfrm>
            <a:off x="4901183" y="2999232"/>
            <a:ext cx="347472" cy="347472"/>
          </a:xfrm>
          <a:prstGeom prst="ellipse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9992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74768"/>
                </a:solidFill>
                <a:latin typeface="Poppins"/>
              </a:rPr>
              <a:t>Top de opciones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30098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Cada propuesta abre su ficha con el desglose de factores.</a:t>
            </a:r>
          </a:p>
        </p:txBody>
      </p:sp>
      <p:sp>
        <p:nvSpPr>
          <p:cNvPr id="14" name="Oval 13"/>
          <p:cNvSpPr/>
          <p:nvPr/>
        </p:nvSpPr>
        <p:spPr>
          <a:xfrm>
            <a:off x="4901183" y="3849624"/>
            <a:ext cx="347472" cy="347472"/>
          </a:xfrm>
          <a:prstGeom prst="ellipse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8496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74768"/>
                </a:solidFill>
                <a:latin typeface="Poppins"/>
              </a:rPr>
              <a:t>Informe 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4151376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Recomendación, supuestos y fuentes en un documento.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Cada respuesta </a:t>
            </a:r>
            <a:r>
              <a:rPr b="0"/>
              <a:t>tiene un efecto claro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2376" y="1325880"/>
          <a:ext cx="770839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4181"/>
                <a:gridCol w="2620853"/>
                <a:gridCol w="3083356"/>
              </a:tblGrid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Respuesta del usuario</a:t>
                      </a:r>
                    </a:p>
                  </a:txBody>
                  <a:tcPr marL="73152" marR="73152" marT="36576" marB="36576" anchor="ctr">
                    <a:solidFill>
                      <a:srgbClr val="3747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Efecto en el cálculo</a:t>
                      </a:r>
                    </a:p>
                  </a:txBody>
                  <a:tcPr marL="73152" marR="73152" marT="36576" marB="36576" anchor="ctr">
                    <a:solidFill>
                      <a:srgbClr val="3747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Lectura para el usuario</a:t>
                      </a:r>
                    </a:p>
                  </a:txBody>
                  <a:tcPr marL="73152" marR="73152" marT="36576" marB="36576" anchor="ctr">
                    <a:solidFill>
                      <a:srgbClr val="37476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B1B"/>
                          </a:solidFill>
                          <a:latin typeface="Didact Gothic"/>
                        </a:rPr>
                        <a:t>Imprescindible</a:t>
                      </a:r>
                    </a:p>
                  </a:txBody>
                  <a:tcPr marL="73152" marR="73152" marT="36576" marB="36576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1B"/>
                          </a:solidFill>
                          <a:latin typeface="Didact Gothic"/>
                        </a:rPr>
                        <a:t>Filtro duro</a:t>
                      </a:r>
                    </a:p>
                  </a:txBody>
                  <a:tcPr marL="73152" marR="73152" marT="36576" marB="36576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1B"/>
                          </a:solidFill>
                          <a:latin typeface="Didact Gothic"/>
                        </a:rPr>
                        <a:t>Los municipios que no cumplen se descartan</a:t>
                      </a:r>
                    </a:p>
                  </a:txBody>
                  <a:tcPr marL="73152" marR="73152" marT="36576" marB="36576" anchor="ctr"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B1B"/>
                          </a:solidFill>
                          <a:latin typeface="Didact Gothic"/>
                        </a:rPr>
                        <a:t>Muy importante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1B"/>
                          </a:solidFill>
                          <a:latin typeface="Didact Gothic"/>
                        </a:rPr>
                        <a:t>Peso completo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1B"/>
                          </a:solidFill>
                          <a:latin typeface="Didact Gothic"/>
                        </a:rPr>
                        <a:t>Pesa tanto como el modelo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B1B"/>
                          </a:solidFill>
                          <a:latin typeface="Didact Gothic"/>
                        </a:rPr>
                        <a:t>Poco importante</a:t>
                      </a:r>
                    </a:p>
                  </a:txBody>
                  <a:tcPr marL="73152" marR="73152" marT="36576" marB="36576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1B"/>
                          </a:solidFill>
                          <a:latin typeface="Didact Gothic"/>
                        </a:rPr>
                        <a:t>Medio peso</a:t>
                      </a:r>
                    </a:p>
                  </a:txBody>
                  <a:tcPr marL="73152" marR="73152" marT="36576" marB="36576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1B"/>
                          </a:solidFill>
                          <a:latin typeface="Didact Gothic"/>
                        </a:rPr>
                        <a:t>Pesa la mitad que el modelo</a:t>
                      </a:r>
                    </a:p>
                  </a:txBody>
                  <a:tcPr marL="73152" marR="73152" marT="36576" marB="36576" anchor="ctr"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B1B"/>
                          </a:solidFill>
                          <a:latin typeface="Didact Gothic"/>
                        </a:rPr>
                        <a:t>Me da igual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1B"/>
                          </a:solidFill>
                          <a:latin typeface="Didact Gothic"/>
                        </a:rPr>
                        <a:t>Sin peso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1B"/>
                          </a:solidFill>
                          <a:latin typeface="Didact Gothic"/>
                        </a:rPr>
                        <a:t>Solo cuenta la viabilidad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B1B"/>
                          </a:solidFill>
                          <a:latin typeface="Didact Gothic"/>
                        </a:rPr>
                        <a:t>No lo sé</a:t>
                      </a:r>
                    </a:p>
                  </a:txBody>
                  <a:tcPr marL="73152" marR="73152" marT="36576" marB="36576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1B"/>
                          </a:solidFill>
                          <a:latin typeface="Didact Gothic"/>
                        </a:rPr>
                        <a:t>Sin peso, se vuelve a preguntar</a:t>
                      </a:r>
                    </a:p>
                  </a:txBody>
                  <a:tcPr marL="73152" marR="73152" marT="36576" marB="36576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B1B"/>
                          </a:solidFill>
                          <a:latin typeface="Didact Gothic"/>
                        </a:rPr>
                        <a:t>La pregunta reaparece si desempata</a:t>
                      </a:r>
                    </a:p>
                  </a:txBody>
                  <a:tcPr marL="73152" marR="73152" marT="36576" marB="36576" anchor="ctr"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Perfil </a:t>
            </a:r>
            <a:r>
              <a:rPr b="0"/>
              <a:t>Administración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2376" y="1298448"/>
            <a:ext cx="2417064" cy="224028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" y="1508760"/>
            <a:ext cx="548640" cy="548640"/>
          </a:xfrm>
          <a:prstGeom prst="ellipse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2194560"/>
            <a:ext cx="19598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74768"/>
                </a:solidFill>
                <a:latin typeface="Poppins"/>
              </a:rPr>
              <a:t>Diagnóstico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606040"/>
            <a:ext cx="19598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Ámbito (región, comarca, tramo de población), mapa base y ficha por municipio con el factor que más lo frena.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8040" y="1298448"/>
            <a:ext cx="2417064" cy="224028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50920" y="1508760"/>
            <a:ext cx="548640" cy="548640"/>
          </a:xfrm>
          <a:prstGeom prst="ellipse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6640" y="2194560"/>
            <a:ext cx="19598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74768"/>
                </a:solidFill>
                <a:latin typeface="Poppins"/>
              </a:rPr>
              <a:t>Simulador de políticas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6640" y="2606040"/>
            <a:ext cx="19598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Política → palanca del modelo con hipótesis editable → intervención causal → escenario con intervalo.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3704" y="1298448"/>
            <a:ext cx="2417064" cy="224028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96584" y="1508760"/>
            <a:ext cx="548640" cy="548640"/>
          </a:xfrm>
          <a:prstGeom prst="ellipse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2304" y="2194560"/>
            <a:ext cx="19598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74768"/>
                </a:solidFill>
                <a:latin typeface="Poppins"/>
              </a:rPr>
              <a:t>Informe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2304" y="2606040"/>
            <a:ext cx="19598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Escenarios comparados con sus supuestos, intervalos y fuentes: escenario, no predicción.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794760"/>
            <a:ext cx="7708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374768"/>
                </a:solidFill>
                <a:latin typeface="Didact Gothic"/>
              </a:rPr>
              <a:t>Supuesto experto obligatorio: </a:t>
            </a:r>
            <a:r>
              <a:rPr sz="1150" b="0">
                <a:solidFill>
                  <a:srgbClr val="1B1B1B"/>
                </a:solidFill>
                <a:latin typeface="Didact Gothic"/>
              </a:rPr>
              <a:t>si una palanca no tiene efecto observable en los datos, como una nueva estación, la herramienta exige declararlo y lo registra en el informe.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flujo </a:t>
            </a:r>
            <a:r>
              <a:rPr b="0"/>
              <a:t>de cada perfil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1417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74768"/>
                </a:solidFill>
                <a:latin typeface="Poppins"/>
              </a:rPr>
              <a:t>Empresa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2376" y="1801368"/>
            <a:ext cx="950976" cy="566928"/>
          </a:xfrm>
          <a:prstGeom prst="roundRect">
            <a:avLst>
              <a:gd name="adj" fmla="val 20000"/>
            </a:avLst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801368"/>
            <a:ext cx="8778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Didact Gothic"/>
              </a:rPr>
              <a:t>Perfil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00784" y="2020824"/>
            <a:ext cx="118872" cy="128016"/>
          </a:xfrm>
          <a:prstGeom prst="rightArrow">
            <a:avLst/>
          </a:prstGeom>
          <a:solidFill>
            <a:srgbClr val="9B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47088" y="1801368"/>
            <a:ext cx="950976" cy="566928"/>
          </a:xfrm>
          <a:prstGeom prst="roundRect">
            <a:avLst>
              <a:gd name="adj" fmla="val 20000"/>
            </a:avLst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3664" y="1801368"/>
            <a:ext cx="8778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Didact Gothic"/>
              </a:rPr>
              <a:t>Describe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25496" y="2020824"/>
            <a:ext cx="118872" cy="128016"/>
          </a:xfrm>
          <a:prstGeom prst="rightArrow">
            <a:avLst/>
          </a:prstGeom>
          <a:solidFill>
            <a:srgbClr val="9B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71800" y="1801368"/>
            <a:ext cx="950976" cy="566928"/>
          </a:xfrm>
          <a:prstGeom prst="roundRect">
            <a:avLst>
              <a:gd name="adj" fmla="val 20000"/>
            </a:avLst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08376" y="1801368"/>
            <a:ext cx="8778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Didact Gothic"/>
              </a:rPr>
              <a:t>Confirma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50208" y="2020824"/>
            <a:ext cx="118872" cy="128016"/>
          </a:xfrm>
          <a:prstGeom prst="rightArrow">
            <a:avLst/>
          </a:prstGeom>
          <a:solidFill>
            <a:srgbClr val="9B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96512" y="1801368"/>
            <a:ext cx="950976" cy="566928"/>
          </a:xfrm>
          <a:prstGeom prst="roundRect">
            <a:avLst>
              <a:gd name="adj" fmla="val 20000"/>
            </a:avLst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3088" y="1801368"/>
            <a:ext cx="8778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Didact Gothic"/>
              </a:rPr>
              <a:t>Filtros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74920" y="2020824"/>
            <a:ext cx="118872" cy="128016"/>
          </a:xfrm>
          <a:prstGeom prst="rightArrow">
            <a:avLst/>
          </a:prstGeom>
          <a:solidFill>
            <a:srgbClr val="9B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21224" y="1801368"/>
            <a:ext cx="950976" cy="566928"/>
          </a:xfrm>
          <a:prstGeom prst="roundRect">
            <a:avLst>
              <a:gd name="adj" fmla="val 20000"/>
            </a:avLst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1801368"/>
            <a:ext cx="8778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Didact Gothic"/>
              </a:rPr>
              <a:t>Puntuación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199632" y="2020824"/>
            <a:ext cx="118872" cy="128016"/>
          </a:xfrm>
          <a:prstGeom prst="rightArrow">
            <a:avLst/>
          </a:prstGeom>
          <a:solidFill>
            <a:srgbClr val="9B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45936" y="1801368"/>
            <a:ext cx="950976" cy="566928"/>
          </a:xfrm>
          <a:prstGeom prst="roundRect">
            <a:avLst>
              <a:gd name="adj" fmla="val 20000"/>
            </a:avLst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801368"/>
            <a:ext cx="8778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Didact Gothic"/>
              </a:rPr>
              <a:t>Mapa 3D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324344" y="2020824"/>
            <a:ext cx="118872" cy="128016"/>
          </a:xfrm>
          <a:prstGeom prst="rightArrow">
            <a:avLst/>
          </a:prstGeom>
          <a:solidFill>
            <a:srgbClr val="9B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1801368"/>
            <a:ext cx="950976" cy="566928"/>
          </a:xfrm>
          <a:prstGeom prst="roundRect">
            <a:avLst>
              <a:gd name="adj" fmla="val 20000"/>
            </a:avLst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07223" y="1801368"/>
            <a:ext cx="8778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Didact Gothic"/>
              </a:rPr>
              <a:t>Ficha e informe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28346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74768"/>
                </a:solidFill>
                <a:latin typeface="Poppins"/>
              </a:rPr>
              <a:t>Administración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" y="3218688"/>
            <a:ext cx="950976" cy="566928"/>
          </a:xfrm>
          <a:prstGeom prst="roundRect">
            <a:avLst>
              <a:gd name="adj" fmla="val 20000"/>
            </a:avLst>
          </a:prstGeom>
          <a:solidFill>
            <a:srgbClr val="43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218688"/>
            <a:ext cx="8778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Didact Gothic"/>
              </a:rPr>
              <a:t>Perfil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700784" y="3438144"/>
            <a:ext cx="118872" cy="128016"/>
          </a:xfrm>
          <a:prstGeom prst="rightArrow">
            <a:avLst/>
          </a:prstGeom>
          <a:solidFill>
            <a:srgbClr val="9B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847088" y="3218688"/>
            <a:ext cx="950976" cy="566928"/>
          </a:xfrm>
          <a:prstGeom prst="roundRect">
            <a:avLst>
              <a:gd name="adj" fmla="val 20000"/>
            </a:avLst>
          </a:prstGeom>
          <a:solidFill>
            <a:srgbClr val="43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83664" y="3218688"/>
            <a:ext cx="8778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Didact Gothic"/>
              </a:rPr>
              <a:t>Ámbito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825496" y="3438144"/>
            <a:ext cx="118872" cy="128016"/>
          </a:xfrm>
          <a:prstGeom prst="rightArrow">
            <a:avLst/>
          </a:prstGeom>
          <a:solidFill>
            <a:srgbClr val="9B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71800" y="3218688"/>
            <a:ext cx="950976" cy="566928"/>
          </a:xfrm>
          <a:prstGeom prst="roundRect">
            <a:avLst>
              <a:gd name="adj" fmla="val 20000"/>
            </a:avLst>
          </a:prstGeom>
          <a:solidFill>
            <a:srgbClr val="43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08376" y="3218688"/>
            <a:ext cx="8778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Didact Gothic"/>
              </a:rPr>
              <a:t>Diagnóstico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950208" y="3438144"/>
            <a:ext cx="118872" cy="128016"/>
          </a:xfrm>
          <a:prstGeom prst="rightArrow">
            <a:avLst/>
          </a:prstGeom>
          <a:solidFill>
            <a:srgbClr val="9B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096512" y="3218688"/>
            <a:ext cx="950976" cy="566928"/>
          </a:xfrm>
          <a:prstGeom prst="roundRect">
            <a:avLst>
              <a:gd name="adj" fmla="val 20000"/>
            </a:avLst>
          </a:prstGeom>
          <a:solidFill>
            <a:srgbClr val="43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33088" y="3218688"/>
            <a:ext cx="8778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Didact Gothic"/>
              </a:rPr>
              <a:t>Política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074920" y="3438144"/>
            <a:ext cx="118872" cy="128016"/>
          </a:xfrm>
          <a:prstGeom prst="rightArrow">
            <a:avLst/>
          </a:prstGeom>
          <a:solidFill>
            <a:srgbClr val="9B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221224" y="3218688"/>
            <a:ext cx="950976" cy="566928"/>
          </a:xfrm>
          <a:prstGeom prst="roundRect">
            <a:avLst>
              <a:gd name="adj" fmla="val 20000"/>
            </a:avLst>
          </a:prstGeom>
          <a:solidFill>
            <a:srgbClr val="43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57800" y="3218688"/>
            <a:ext cx="8778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Didact Gothic"/>
              </a:rPr>
              <a:t>Hipótesis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6199632" y="3438144"/>
            <a:ext cx="118872" cy="128016"/>
          </a:xfrm>
          <a:prstGeom prst="rightArrow">
            <a:avLst/>
          </a:prstGeom>
          <a:solidFill>
            <a:srgbClr val="9B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45936" y="3218688"/>
            <a:ext cx="950976" cy="566928"/>
          </a:xfrm>
          <a:prstGeom prst="roundRect">
            <a:avLst>
              <a:gd name="adj" fmla="val 20000"/>
            </a:avLst>
          </a:prstGeom>
          <a:solidFill>
            <a:srgbClr val="43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3218688"/>
            <a:ext cx="8778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Didact Gothic"/>
              </a:rPr>
              <a:t>Escenario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7324344" y="3438144"/>
            <a:ext cx="118872" cy="128016"/>
          </a:xfrm>
          <a:prstGeom prst="rightArrow">
            <a:avLst/>
          </a:prstGeom>
          <a:solidFill>
            <a:srgbClr val="9BA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470648" y="3218688"/>
            <a:ext cx="950976" cy="566928"/>
          </a:xfrm>
          <a:prstGeom prst="roundRect">
            <a:avLst>
              <a:gd name="adj" fmla="val 20000"/>
            </a:avLst>
          </a:prstGeom>
          <a:solidFill>
            <a:srgbClr val="43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07223" y="3218688"/>
            <a:ext cx="8778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Didact Gothic"/>
              </a:rPr>
              <a:t>Informe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ycle Diagrams Theme for a Business Plan by Slidesgo">
  <a:themeElements>
    <a:clrScheme name="Simple Light">
      <a:dk1>
        <a:srgbClr val="1B1B1B"/>
      </a:dk1>
      <a:lt1>
        <a:srgbClr val="FAFAFA"/>
      </a:lt1>
      <a:dk2>
        <a:srgbClr val="374768"/>
      </a:dk2>
      <a:lt2>
        <a:srgbClr val="43567F"/>
      </a:lt2>
      <a:accent1>
        <a:srgbClr val="9BACCA"/>
      </a:accent1>
      <a:accent2>
        <a:srgbClr val="C2CDE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B1B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