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60" r:id="rId11"/>
    <p:sldId id="258" r:id="rId9"/>
    <p:sldId id="266" r:id="rId17"/>
    <p:sldId id="294" r:id="rId78"/>
    <p:sldId id="295" r:id="rId79"/>
    <p:sldId id="296" r:id="rId80"/>
    <p:sldId id="297" r:id="rId81"/>
    <p:sldId id="298" r:id="rId82"/>
    <p:sldId id="299" r:id="rId83"/>
    <p:sldId id="273" r:id="rId24"/>
  </p:sldIdLst>
  <p:sldSz cy="5143500" cx="9144000"/>
  <p:notesSz cx="6858000" cy="9144000"/>
  <p:embeddedFontLst>
    <p:embeddedFont>
      <p:font typeface="Raleway"/>
      <p:regular r:id="rId45"/>
      <p:bold r:id="rId46"/>
      <p:italic r:id="rId47"/>
      <p:boldItalic r:id="rId48"/>
    </p:embeddedFont>
    <p:embeddedFont>
      <p:font typeface="Libre Franklin"/>
      <p:regular r:id="rId49"/>
      <p:bold r:id="rId50"/>
      <p:italic r:id="rId51"/>
      <p:boldItalic r:id="rId52"/>
    </p:embeddedFont>
    <p:embeddedFont>
      <p:font typeface="Proxima Nova"/>
      <p:regular r:id="rId53"/>
      <p:bold r:id="rId54"/>
      <p:italic r:id="rId55"/>
      <p:boldItalic r:id="rId56"/>
    </p:embeddedFont>
    <p:embeddedFont>
      <p:font typeface="Roboto Medium"/>
      <p:regular r:id="rId57"/>
      <p:bold r:id="rId58"/>
      <p:italic r:id="rId59"/>
      <p:boldItalic r:id="rId60"/>
    </p:embeddedFont>
    <p:embeddedFont>
      <p:font typeface="Amatic SC"/>
      <p:regular r:id="rId61"/>
      <p:bold r:id="rId62"/>
    </p:embeddedFont>
    <p:embeddedFont>
      <p:font typeface="Poppins"/>
      <p:regular r:id="rId63"/>
      <p:bold r:id="rId64"/>
      <p:italic r:id="rId65"/>
      <p:boldItalic r:id="rId66"/>
    </p:embeddedFont>
    <p:embeddedFont>
      <p:font typeface="Montserrat"/>
      <p:regular r:id="rId67"/>
      <p:bold r:id="rId68"/>
      <p:italic r:id="rId69"/>
      <p:boldItalic r:id="rId70"/>
    </p:embeddedFont>
    <p:embeddedFont>
      <p:font typeface="Anaheim"/>
      <p:regular r:id="rId71"/>
      <p:bold r:id="rId72"/>
    </p:embeddedFont>
    <p:embeddedFont>
      <p:font typeface="Didact Gothic"/>
      <p:regular r:id="rId73"/>
    </p:embeddedFont>
    <p:embeddedFont>
      <p:font typeface="Century Gothic"/>
      <p:regular r:id="rId74"/>
      <p:bold r:id="rId75"/>
      <p:italic r:id="rId76"/>
      <p:boldItalic r:id="rId7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E9F7CF3-5320-4FC8-9165-706CE8641E20}">
  <a:tblStyle styleId="{3E9F7CF3-5320-4FC8-9165-706CE8641E2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1" Type="http://schemas.openxmlformats.org/officeDocument/2006/relationships/slide" Target="slides/slide5.xml"/><Relationship Id="rId17" Type="http://schemas.openxmlformats.org/officeDocument/2006/relationships/slide" Target="slides/slide11.xml"/><Relationship Id="rId24" Type="http://schemas.openxmlformats.org/officeDocument/2006/relationships/slide" Target="slides/slide18.xml"/><Relationship Id="rId45" Type="http://schemas.openxmlformats.org/officeDocument/2006/relationships/font" Target="fonts/Raleway-regular.fntdata"/><Relationship Id="rId46" Type="http://schemas.openxmlformats.org/officeDocument/2006/relationships/font" Target="fonts/Raleway-bold.fntdata"/><Relationship Id="rId47" Type="http://schemas.openxmlformats.org/officeDocument/2006/relationships/font" Target="fonts/Raleway-italic.fntdata"/><Relationship Id="rId48" Type="http://schemas.openxmlformats.org/officeDocument/2006/relationships/font" Target="fonts/Raleway-boldItalic.fntdata"/><Relationship Id="rId49" Type="http://schemas.openxmlformats.org/officeDocument/2006/relationships/font" Target="fonts/LibreFranklin-regular.fntdata"/><Relationship Id="rId50" Type="http://schemas.openxmlformats.org/officeDocument/2006/relationships/font" Target="fonts/LibreFranklin-bold.fntdata"/><Relationship Id="rId51" Type="http://schemas.openxmlformats.org/officeDocument/2006/relationships/font" Target="fonts/LibreFranklin-italic.fntdata"/><Relationship Id="rId52" Type="http://schemas.openxmlformats.org/officeDocument/2006/relationships/font" Target="fonts/LibreFranklin-boldItalic.fntdata"/><Relationship Id="rId53" Type="http://schemas.openxmlformats.org/officeDocument/2006/relationships/font" Target="fonts/ProximaNova-regular.fntdata"/><Relationship Id="rId54" Type="http://schemas.openxmlformats.org/officeDocument/2006/relationships/font" Target="fonts/ProximaNova-bold.fntdata"/><Relationship Id="rId55" Type="http://schemas.openxmlformats.org/officeDocument/2006/relationships/font" Target="fonts/ProximaNova-italic.fntdata"/><Relationship Id="rId56" Type="http://schemas.openxmlformats.org/officeDocument/2006/relationships/font" Target="fonts/ProximaNova-boldItalic.fntdata"/><Relationship Id="rId57" Type="http://schemas.openxmlformats.org/officeDocument/2006/relationships/font" Target="fonts/RobotoMedium-regular.fntdata"/><Relationship Id="rId58" Type="http://schemas.openxmlformats.org/officeDocument/2006/relationships/font" Target="fonts/RobotoMedium-bold.fntdata"/><Relationship Id="rId59" Type="http://schemas.openxmlformats.org/officeDocument/2006/relationships/font" Target="fonts/RobotoMedium-italic.fntdata"/><Relationship Id="rId60" Type="http://schemas.openxmlformats.org/officeDocument/2006/relationships/font" Target="fonts/RobotoMedium-boldItalic.fntdata"/><Relationship Id="rId61" Type="http://schemas.openxmlformats.org/officeDocument/2006/relationships/font" Target="fonts/AmaticSC-regular.fntdata"/><Relationship Id="rId62" Type="http://schemas.openxmlformats.org/officeDocument/2006/relationships/font" Target="fonts/AmaticSC-bold.fntdata"/><Relationship Id="rId63" Type="http://schemas.openxmlformats.org/officeDocument/2006/relationships/font" Target="fonts/Poppins-regular.fntdata"/><Relationship Id="rId64" Type="http://schemas.openxmlformats.org/officeDocument/2006/relationships/font" Target="fonts/Poppins-bold.fntdata"/><Relationship Id="rId65" Type="http://schemas.openxmlformats.org/officeDocument/2006/relationships/font" Target="fonts/Poppins-italic.fntdata"/><Relationship Id="rId66" Type="http://schemas.openxmlformats.org/officeDocument/2006/relationships/font" Target="fonts/Poppins-boldItalic.fntdata"/><Relationship Id="rId67" Type="http://schemas.openxmlformats.org/officeDocument/2006/relationships/font" Target="fonts/Montserrat-regular.fntdata"/><Relationship Id="rId68" Type="http://schemas.openxmlformats.org/officeDocument/2006/relationships/font" Target="fonts/Montserrat-bold.fntdata"/><Relationship Id="rId69" Type="http://schemas.openxmlformats.org/officeDocument/2006/relationships/font" Target="fonts/Montserrat-italic.fntdata"/><Relationship Id="rId70" Type="http://schemas.openxmlformats.org/officeDocument/2006/relationships/font" Target="fonts/Montserrat-boldItalic.fntdata"/><Relationship Id="rId71" Type="http://schemas.openxmlformats.org/officeDocument/2006/relationships/font" Target="fonts/Anaheim-regular.fntdata"/><Relationship Id="rId72" Type="http://schemas.openxmlformats.org/officeDocument/2006/relationships/font" Target="fonts/Anaheim-bold.fntdata"/><Relationship Id="rId73" Type="http://schemas.openxmlformats.org/officeDocument/2006/relationships/font" Target="fonts/DidactGothic-regular.fntdata"/><Relationship Id="rId74" Type="http://schemas.openxmlformats.org/officeDocument/2006/relationships/font" Target="fonts/CenturyGothic-regular.fntdata"/><Relationship Id="rId75" Type="http://schemas.openxmlformats.org/officeDocument/2006/relationships/font" Target="fonts/CenturyGothic-bold.fntdata"/><Relationship Id="rId76" Type="http://schemas.openxmlformats.org/officeDocument/2006/relationships/font" Target="fonts/CenturyGothic-italic.fntdata"/><Relationship Id="rId77" Type="http://schemas.openxmlformats.org/officeDocument/2006/relationships/font" Target="fonts/CenturyGothic-boldItalic.fntdata"/><Relationship Id="rId78" Type="http://schemas.openxmlformats.org/officeDocument/2006/relationships/slide" Target="slides/slide39.xml"/><Relationship Id="rId79" Type="http://schemas.openxmlformats.org/officeDocument/2006/relationships/slide" Target="slides/slide40.xml"/><Relationship Id="rId80" Type="http://schemas.openxmlformats.org/officeDocument/2006/relationships/slide" Target="slides/slide41.xml"/><Relationship Id="rId81" Type="http://schemas.openxmlformats.org/officeDocument/2006/relationships/slide" Target="slides/slide42.xml"/><Relationship Id="rId82" Type="http://schemas.openxmlformats.org/officeDocument/2006/relationships/slide" Target="slides/slide43.xml"/><Relationship Id="rId83" Type="http://schemas.openxmlformats.org/officeDocument/2006/relationships/slide" Target="slides/slide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Presentamos una herramienta de apoyo a la decisión con dos usuarios: empresas que buscan dónde abrir o trasladar oficinas, y administraciones que quieren descongestionar la capital y fijar actividad en el resto de la región.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b1324a7d30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b1324a7d3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b1324a7d30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b1324a7d30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A la izquierda, las preguntas de la empresa; a la derecha, las de la Administración. Ambas se responden con la misma tabla de 179 municipios construida con datos oficiales de la Comunidad de Madrid.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b1022eedc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b1022eedc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Cifras de nuestra tabla de 179 municipios. La capital ocupa el 7,5 % del territorio pero concentra la mitad de la población, más de la mitad de las unidades productivas y casi dos tercios del empleo afiliado localizado.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2b1022eedc3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2b1022eedc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Primero se descarta lo imposible. Después el GA²M puntúa y la red bayesiana explica. Por último, las preferencias del usuario se suman con un peso explícito y calibrado, que se muestra por separado.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135e18421cc_1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2" name="Google Shape;732;g135e18421cc_1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Las ocho variables del modelo, incluido el objetivo, se obtienen del portal de datos abiertos de la Comunidad o de organismos de la Comunidad. Algunas las produce el INE o el Catastro y las republica el Instituto de Estadística.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Las raíces son el talento y la distancia a Madrid. A través del coste, el dinamismo demográfico y la especialización llegan a la viabilidad empresarial. Así cada recomendación se puede explicar.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Los dos modelos son de caja transparente. En el GA²M la puntuación es literalmente la suma de una aportación por variable, así que la explicación es exacta, no una aproximación posterior como SHAP o LIME. La red bayesiana añade el porqué causal: razona hacia delante y hacia atrás, y permite simular intervenciones. Para una administración pública esto significa decisiones que cualquiera puede revisar.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Ejemplo con datos simulados. La empresa describe lo que necesita en lenguaje natural; el sistema lo convierte en filtros (lo imprescindible) y pesos (lo deseable). La salida es un ranking con el porqué de cada opción: cuánto aporta la viabilidad del entorno y cuánto cada preferencia.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Ejemplo con datos simulados. El técnico define el ámbito y pregunta qué frena a un municipio: la ficha muestra qué factores restan y cuáles suman. Después prueba una política, ve la hipótesis con la que se traduce al modelo y obtiene un escenario con su margen de incertidumbre.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179 filas y datos anuales: no hace falta una base de datos pesada. Puntuar los 179 municipios lleva milisegundos.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355125" y="814525"/>
            <a:ext cx="6350100" cy="260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355125" y="3745850"/>
            <a:ext cx="45288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>
            <a:off x="-8400" y="0"/>
            <a:ext cx="728475" cy="5163250"/>
            <a:chOff x="-8400" y="0"/>
            <a:chExt cx="728475" cy="5163250"/>
          </a:xfrm>
        </p:grpSpPr>
        <p:sp>
          <p:nvSpPr>
            <p:cNvPr id="12" name="Google Shape;12;p2"/>
            <p:cNvSpPr/>
            <p:nvPr/>
          </p:nvSpPr>
          <p:spPr>
            <a:xfrm rot="5400000">
              <a:off x="-1968300" y="2474950"/>
              <a:ext cx="4648200" cy="728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-8325" y="0"/>
              <a:ext cx="728400" cy="63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4047175" y="2571975"/>
            <a:ext cx="4383600" cy="12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hasCustomPrompt="1" idx="2" type="title"/>
          </p:nvPr>
        </p:nvSpPr>
        <p:spPr>
          <a:xfrm>
            <a:off x="4047175" y="1321975"/>
            <a:ext cx="1332600" cy="841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/>
          <p:nvPr>
            <p:ph idx="3" type="pic"/>
          </p:nvPr>
        </p:nvSpPr>
        <p:spPr>
          <a:xfrm>
            <a:off x="713225" y="539500"/>
            <a:ext cx="2760600" cy="4064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720000" y="1215750"/>
            <a:ext cx="7704000" cy="12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21" name="Google Shape;21;p4"/>
          <p:cNvGrpSpPr/>
          <p:nvPr/>
        </p:nvGrpSpPr>
        <p:grpSpPr>
          <a:xfrm>
            <a:off x="0" y="0"/>
            <a:ext cx="9144000" cy="312600"/>
            <a:chOff x="0" y="0"/>
            <a:chExt cx="9144000" cy="312600"/>
          </a:xfrm>
        </p:grpSpPr>
        <p:sp>
          <p:nvSpPr>
            <p:cNvPr id="22" name="Google Shape;22;p4"/>
            <p:cNvSpPr/>
            <p:nvPr/>
          </p:nvSpPr>
          <p:spPr>
            <a:xfrm>
              <a:off x="0" y="0"/>
              <a:ext cx="9144000" cy="312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3" name="Google Shape;23;p4"/>
            <p:cNvSpPr/>
            <p:nvPr/>
          </p:nvSpPr>
          <p:spPr>
            <a:xfrm>
              <a:off x="0" y="0"/>
              <a:ext cx="713100" cy="31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subTitle"/>
          </p:nvPr>
        </p:nvSpPr>
        <p:spPr>
          <a:xfrm>
            <a:off x="5056151" y="2574154"/>
            <a:ext cx="2769000" cy="17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2" type="subTitle"/>
          </p:nvPr>
        </p:nvSpPr>
        <p:spPr>
          <a:xfrm>
            <a:off x="1318850" y="2574154"/>
            <a:ext cx="2769000" cy="17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3" type="subTitle"/>
          </p:nvPr>
        </p:nvSpPr>
        <p:spPr>
          <a:xfrm>
            <a:off x="1318850" y="1771900"/>
            <a:ext cx="27690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4" type="subTitle"/>
          </p:nvPr>
        </p:nvSpPr>
        <p:spPr>
          <a:xfrm>
            <a:off x="5056153" y="1771900"/>
            <a:ext cx="27690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30" name="Google Shape;30;p5"/>
          <p:cNvGrpSpPr/>
          <p:nvPr/>
        </p:nvGrpSpPr>
        <p:grpSpPr>
          <a:xfrm>
            <a:off x="0" y="0"/>
            <a:ext cx="9144000" cy="312600"/>
            <a:chOff x="0" y="0"/>
            <a:chExt cx="9144000" cy="312600"/>
          </a:xfrm>
        </p:grpSpPr>
        <p:sp>
          <p:nvSpPr>
            <p:cNvPr id="31" name="Google Shape;31;p5"/>
            <p:cNvSpPr/>
            <p:nvPr/>
          </p:nvSpPr>
          <p:spPr>
            <a:xfrm>
              <a:off x="0" y="0"/>
              <a:ext cx="9144000" cy="312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0" y="0"/>
              <a:ext cx="713100" cy="31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5" name="Google Shape;35;p6"/>
          <p:cNvGrpSpPr/>
          <p:nvPr/>
        </p:nvGrpSpPr>
        <p:grpSpPr>
          <a:xfrm>
            <a:off x="0" y="0"/>
            <a:ext cx="9144000" cy="312600"/>
            <a:chOff x="0" y="0"/>
            <a:chExt cx="9144000" cy="312600"/>
          </a:xfrm>
        </p:grpSpPr>
        <p:sp>
          <p:nvSpPr>
            <p:cNvPr id="36" name="Google Shape;36;p6"/>
            <p:cNvSpPr/>
            <p:nvPr/>
          </p:nvSpPr>
          <p:spPr>
            <a:xfrm>
              <a:off x="0" y="0"/>
              <a:ext cx="9144000" cy="312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7" name="Google Shape;37;p6"/>
            <p:cNvSpPr/>
            <p:nvPr/>
          </p:nvSpPr>
          <p:spPr>
            <a:xfrm>
              <a:off x="0" y="0"/>
              <a:ext cx="713100" cy="31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idx="1" type="subTitle"/>
          </p:nvPr>
        </p:nvSpPr>
        <p:spPr>
          <a:xfrm>
            <a:off x="811975" y="2001200"/>
            <a:ext cx="4294800" cy="22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type="title"/>
          </p:nvPr>
        </p:nvSpPr>
        <p:spPr>
          <a:xfrm>
            <a:off x="811975" y="1017225"/>
            <a:ext cx="42948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7"/>
          <p:cNvSpPr/>
          <p:nvPr>
            <p:ph idx="2" type="pic"/>
          </p:nvPr>
        </p:nvSpPr>
        <p:spPr>
          <a:xfrm>
            <a:off x="5643775" y="539500"/>
            <a:ext cx="2787000" cy="4064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2" name="Google Shape;42;p7"/>
          <p:cNvGrpSpPr/>
          <p:nvPr/>
        </p:nvGrpSpPr>
        <p:grpSpPr>
          <a:xfrm>
            <a:off x="0" y="0"/>
            <a:ext cx="9144000" cy="312600"/>
            <a:chOff x="0" y="0"/>
            <a:chExt cx="9144000" cy="312600"/>
          </a:xfrm>
        </p:grpSpPr>
        <p:sp>
          <p:nvSpPr>
            <p:cNvPr id="43" name="Google Shape;43;p7"/>
            <p:cNvSpPr/>
            <p:nvPr/>
          </p:nvSpPr>
          <p:spPr>
            <a:xfrm>
              <a:off x="0" y="0"/>
              <a:ext cx="9144000" cy="312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4" name="Google Shape;44;p7"/>
            <p:cNvSpPr/>
            <p:nvPr/>
          </p:nvSpPr>
          <p:spPr>
            <a:xfrm>
              <a:off x="0" y="0"/>
              <a:ext cx="713100" cy="31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47" name="Google Shape;47;p8"/>
          <p:cNvGrpSpPr/>
          <p:nvPr/>
        </p:nvGrpSpPr>
        <p:grpSpPr>
          <a:xfrm>
            <a:off x="-8400" y="0"/>
            <a:ext cx="728475" cy="5163250"/>
            <a:chOff x="-8400" y="0"/>
            <a:chExt cx="728475" cy="5163250"/>
          </a:xfrm>
        </p:grpSpPr>
        <p:sp>
          <p:nvSpPr>
            <p:cNvPr id="48" name="Google Shape;48;p8"/>
            <p:cNvSpPr/>
            <p:nvPr/>
          </p:nvSpPr>
          <p:spPr>
            <a:xfrm rot="5400000">
              <a:off x="-1968300" y="2474950"/>
              <a:ext cx="4648200" cy="728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9" name="Google Shape;49;p8"/>
            <p:cNvSpPr/>
            <p:nvPr/>
          </p:nvSpPr>
          <p:spPr>
            <a:xfrm>
              <a:off x="-8325" y="0"/>
              <a:ext cx="728400" cy="63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53" name="Google Shape;53;p9"/>
          <p:cNvGrpSpPr/>
          <p:nvPr/>
        </p:nvGrpSpPr>
        <p:grpSpPr>
          <a:xfrm>
            <a:off x="-8400" y="0"/>
            <a:ext cx="728475" cy="5163250"/>
            <a:chOff x="-8400" y="0"/>
            <a:chExt cx="728475" cy="5163250"/>
          </a:xfrm>
        </p:grpSpPr>
        <p:sp>
          <p:nvSpPr>
            <p:cNvPr id="54" name="Google Shape;54;p9"/>
            <p:cNvSpPr/>
            <p:nvPr/>
          </p:nvSpPr>
          <p:spPr>
            <a:xfrm rot="5400000">
              <a:off x="-1968300" y="2474950"/>
              <a:ext cx="4648200" cy="728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5" name="Google Shape;55;p9"/>
            <p:cNvSpPr/>
            <p:nvPr/>
          </p:nvSpPr>
          <p:spPr>
            <a:xfrm>
              <a:off x="-8325" y="0"/>
              <a:ext cx="728400" cy="63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hasCustomPrompt="1" type="title"/>
          </p:nvPr>
        </p:nvSpPr>
        <p:spPr>
          <a:xfrm>
            <a:off x="1284000" y="1303775"/>
            <a:ext cx="6576000" cy="165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1" name="Google Shape;61;p11"/>
          <p:cNvSpPr txBox="1"/>
          <p:nvPr>
            <p:ph idx="1" type="subTitle"/>
          </p:nvPr>
        </p:nvSpPr>
        <p:spPr>
          <a:xfrm>
            <a:off x="1284000" y="3259075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62" name="Google Shape;62;p11"/>
          <p:cNvGrpSpPr/>
          <p:nvPr/>
        </p:nvGrpSpPr>
        <p:grpSpPr>
          <a:xfrm>
            <a:off x="-8400" y="0"/>
            <a:ext cx="728475" cy="5163250"/>
            <a:chOff x="-8400" y="0"/>
            <a:chExt cx="728475" cy="5163250"/>
          </a:xfrm>
        </p:grpSpPr>
        <p:sp>
          <p:nvSpPr>
            <p:cNvPr id="63" name="Google Shape;63;p11"/>
            <p:cNvSpPr/>
            <p:nvPr/>
          </p:nvSpPr>
          <p:spPr>
            <a:xfrm rot="5400000">
              <a:off x="-1968300" y="2474950"/>
              <a:ext cx="4648200" cy="728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4" name="Google Shape;64;p11"/>
            <p:cNvSpPr/>
            <p:nvPr/>
          </p:nvSpPr>
          <p:spPr>
            <a:xfrm>
              <a:off x="-8325" y="0"/>
              <a:ext cx="728400" cy="63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3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hasCustomPrompt="1" idx="2" type="title"/>
          </p:nvPr>
        </p:nvSpPr>
        <p:spPr>
          <a:xfrm>
            <a:off x="720000" y="1611324"/>
            <a:ext cx="734700" cy="504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/>
          <p:nvPr>
            <p:ph hasCustomPrompt="1" idx="3" type="title"/>
          </p:nvPr>
        </p:nvSpPr>
        <p:spPr>
          <a:xfrm>
            <a:off x="720000" y="3044627"/>
            <a:ext cx="734700" cy="504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/>
          <p:nvPr>
            <p:ph hasCustomPrompt="1" idx="4" type="title"/>
          </p:nvPr>
        </p:nvSpPr>
        <p:spPr>
          <a:xfrm>
            <a:off x="3419275" y="1611324"/>
            <a:ext cx="734700" cy="504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/>
          <p:nvPr>
            <p:ph hasCustomPrompt="1" idx="5" type="title"/>
          </p:nvPr>
        </p:nvSpPr>
        <p:spPr>
          <a:xfrm>
            <a:off x="3419275" y="3044627"/>
            <a:ext cx="734700" cy="504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2" name="Google Shape;72;p13"/>
          <p:cNvSpPr txBox="1"/>
          <p:nvPr>
            <p:ph hasCustomPrompt="1" idx="6" type="title"/>
          </p:nvPr>
        </p:nvSpPr>
        <p:spPr>
          <a:xfrm>
            <a:off x="6118550" y="1611324"/>
            <a:ext cx="734700" cy="504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3" name="Google Shape;73;p13"/>
          <p:cNvSpPr txBox="1"/>
          <p:nvPr>
            <p:ph hasCustomPrompt="1" idx="7" type="title"/>
          </p:nvPr>
        </p:nvSpPr>
        <p:spPr>
          <a:xfrm>
            <a:off x="6118550" y="3044627"/>
            <a:ext cx="734700" cy="504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4" name="Google Shape;74;p13"/>
          <p:cNvSpPr txBox="1"/>
          <p:nvPr>
            <p:ph idx="1" type="subTitle"/>
          </p:nvPr>
        </p:nvSpPr>
        <p:spPr>
          <a:xfrm>
            <a:off x="720000" y="2293450"/>
            <a:ext cx="23055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5" name="Google Shape;75;p13"/>
          <p:cNvSpPr txBox="1"/>
          <p:nvPr>
            <p:ph idx="8" type="subTitle"/>
          </p:nvPr>
        </p:nvSpPr>
        <p:spPr>
          <a:xfrm>
            <a:off x="3419275" y="2293450"/>
            <a:ext cx="23055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6" name="Google Shape;76;p13"/>
          <p:cNvSpPr txBox="1"/>
          <p:nvPr>
            <p:ph idx="9" type="subTitle"/>
          </p:nvPr>
        </p:nvSpPr>
        <p:spPr>
          <a:xfrm>
            <a:off x="6118550" y="2293450"/>
            <a:ext cx="23055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7" name="Google Shape;77;p13"/>
          <p:cNvSpPr txBox="1"/>
          <p:nvPr>
            <p:ph idx="13" type="subTitle"/>
          </p:nvPr>
        </p:nvSpPr>
        <p:spPr>
          <a:xfrm>
            <a:off x="720000" y="3726825"/>
            <a:ext cx="23814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8" name="Google Shape;78;p13"/>
          <p:cNvSpPr txBox="1"/>
          <p:nvPr>
            <p:ph idx="14" type="subTitle"/>
          </p:nvPr>
        </p:nvSpPr>
        <p:spPr>
          <a:xfrm>
            <a:off x="3419275" y="3726825"/>
            <a:ext cx="23055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9" name="Google Shape;79;p13"/>
          <p:cNvSpPr txBox="1"/>
          <p:nvPr>
            <p:ph idx="15" type="subTitle"/>
          </p:nvPr>
        </p:nvSpPr>
        <p:spPr>
          <a:xfrm>
            <a:off x="6118550" y="3726825"/>
            <a:ext cx="24792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80" name="Google Shape;80;p13"/>
          <p:cNvGrpSpPr/>
          <p:nvPr/>
        </p:nvGrpSpPr>
        <p:grpSpPr>
          <a:xfrm>
            <a:off x="0" y="0"/>
            <a:ext cx="9144000" cy="312600"/>
            <a:chOff x="0" y="0"/>
            <a:chExt cx="9144000" cy="312600"/>
          </a:xfrm>
        </p:grpSpPr>
        <p:sp>
          <p:nvSpPr>
            <p:cNvPr id="81" name="Google Shape;81;p13"/>
            <p:cNvSpPr/>
            <p:nvPr/>
          </p:nvSpPr>
          <p:spPr>
            <a:xfrm>
              <a:off x="0" y="0"/>
              <a:ext cx="9144000" cy="312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2" name="Google Shape;82;p13"/>
            <p:cNvSpPr/>
            <p:nvPr/>
          </p:nvSpPr>
          <p:spPr>
            <a:xfrm>
              <a:off x="0" y="0"/>
              <a:ext cx="713100" cy="31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/>
          <p:nvPr>
            <p:ph type="title"/>
          </p:nvPr>
        </p:nvSpPr>
        <p:spPr>
          <a:xfrm>
            <a:off x="1355163" y="73120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5" name="Google Shape;85;p14"/>
          <p:cNvSpPr txBox="1"/>
          <p:nvPr>
            <p:ph idx="1" type="subTitle"/>
          </p:nvPr>
        </p:nvSpPr>
        <p:spPr>
          <a:xfrm>
            <a:off x="1355125" y="198445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6" name="Google Shape;86;p14"/>
          <p:cNvSpPr txBox="1"/>
          <p:nvPr/>
        </p:nvSpPr>
        <p:spPr>
          <a:xfrm>
            <a:off x="1355125" y="3611950"/>
            <a:ext cx="48105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CREDITS:</a:t>
            </a:r>
            <a:r>
              <a:rPr lang="en" sz="10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This presentation template was created by </a:t>
            </a:r>
            <a:r>
              <a:rPr b="1" lang="en" sz="1000" u="sng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endParaRPr b="1" sz="1000" u="sng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grpSp>
        <p:nvGrpSpPr>
          <p:cNvPr id="87" name="Google Shape;87;p14"/>
          <p:cNvGrpSpPr/>
          <p:nvPr/>
        </p:nvGrpSpPr>
        <p:grpSpPr>
          <a:xfrm>
            <a:off x="-8400" y="0"/>
            <a:ext cx="728475" cy="5163250"/>
            <a:chOff x="-8400" y="0"/>
            <a:chExt cx="728475" cy="5163250"/>
          </a:xfrm>
        </p:grpSpPr>
        <p:sp>
          <p:nvSpPr>
            <p:cNvPr id="88" name="Google Shape;88;p14"/>
            <p:cNvSpPr/>
            <p:nvPr/>
          </p:nvSpPr>
          <p:spPr>
            <a:xfrm rot="5400000">
              <a:off x="-1968300" y="2474950"/>
              <a:ext cx="4648200" cy="728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9" name="Google Shape;89;p14"/>
            <p:cNvSpPr/>
            <p:nvPr/>
          </p:nvSpPr>
          <p:spPr>
            <a:xfrm>
              <a:off x="-8325" y="0"/>
              <a:ext cx="728400" cy="63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15"/>
          <p:cNvGrpSpPr/>
          <p:nvPr/>
        </p:nvGrpSpPr>
        <p:grpSpPr>
          <a:xfrm rot="10800000">
            <a:off x="8415525" y="0"/>
            <a:ext cx="728475" cy="5163250"/>
            <a:chOff x="-8400" y="0"/>
            <a:chExt cx="728475" cy="5163250"/>
          </a:xfrm>
        </p:grpSpPr>
        <p:sp>
          <p:nvSpPr>
            <p:cNvPr id="92" name="Google Shape;92;p15"/>
            <p:cNvSpPr/>
            <p:nvPr/>
          </p:nvSpPr>
          <p:spPr>
            <a:xfrm rot="5400000">
              <a:off x="-1968300" y="2474950"/>
              <a:ext cx="4648200" cy="728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93" name="Google Shape;93;p15"/>
            <p:cNvSpPr/>
            <p:nvPr/>
          </p:nvSpPr>
          <p:spPr>
            <a:xfrm>
              <a:off x="-8325" y="0"/>
              <a:ext cx="728400" cy="63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16"/>
          <p:cNvGrpSpPr/>
          <p:nvPr/>
        </p:nvGrpSpPr>
        <p:grpSpPr>
          <a:xfrm rot="10800000">
            <a:off x="0" y="4830900"/>
            <a:ext cx="9144000" cy="312600"/>
            <a:chOff x="0" y="0"/>
            <a:chExt cx="9144000" cy="312600"/>
          </a:xfrm>
        </p:grpSpPr>
        <p:sp>
          <p:nvSpPr>
            <p:cNvPr id="96" name="Google Shape;96;p16"/>
            <p:cNvSpPr/>
            <p:nvPr/>
          </p:nvSpPr>
          <p:spPr>
            <a:xfrm>
              <a:off x="0" y="0"/>
              <a:ext cx="9144000" cy="312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97" name="Google Shape;97;p16"/>
            <p:cNvSpPr/>
            <p:nvPr/>
          </p:nvSpPr>
          <p:spPr>
            <a:xfrm>
              <a:off x="0" y="0"/>
              <a:ext cx="713100" cy="31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716775" y="510900"/>
            <a:ext cx="77106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7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b="1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b="1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b="1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b="1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b="1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b="1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b="1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b="1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b="1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●"/>
              <a:defRPr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○"/>
              <a:defRPr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■"/>
              <a:defRPr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●"/>
              <a:defRPr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○"/>
              <a:defRPr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■"/>
              <a:defRPr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●"/>
              <a:defRPr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○"/>
              <a:defRPr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■"/>
              <a:defRPr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  <p:sldLayoutId id="2147483664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ctrTitle"/>
          </p:nvPr>
        </p:nvSpPr>
        <p:spPr>
          <a:xfrm>
            <a:off x="1355125" y="814525"/>
            <a:ext cx="6350100" cy="260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Madrid 179</a:t>
            </a:r>
          </a:p>
        </p:txBody>
      </p:sp>
      <p:sp>
        <p:nvSpPr>
          <p:cNvPr id="109" name="Google Shape;109;p20"/>
          <p:cNvSpPr txBox="1"/>
          <p:nvPr>
            <p:ph idx="1" type="subTitle"/>
          </p:nvPr>
        </p:nvSpPr>
        <p:spPr>
          <a:xfrm>
            <a:off x="1355125" y="3745850"/>
            <a:ext cx="585216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/>
              <a:t>Dónde abrir la próxima oficina en la Comunidad de Madrid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Gregorio García Velasco (UC3M) · Guillermo Franco Gimeno (UPM)</a:t>
            </a:r>
          </a:p>
        </p:txBody>
      </p:sp>
      <p:cxnSp>
        <p:nvCxnSpPr>
          <p:cNvPr id="110" name="Google Shape;110;p20"/>
          <p:cNvCxnSpPr/>
          <p:nvPr/>
        </p:nvCxnSpPr>
        <p:spPr>
          <a:xfrm>
            <a:off x="1431100" y="3636300"/>
            <a:ext cx="5835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Índice</a:t>
            </a:r>
          </a:p>
        </p:txBody>
      </p:sp>
      <p:sp>
        <p:nvSpPr>
          <p:cNvPr id="116" name="Google Shape;116;p21"/>
          <p:cNvSpPr txBox="1"/>
          <p:nvPr>
            <p:ph idx="2" type="title"/>
          </p:nvPr>
        </p:nvSpPr>
        <p:spPr>
          <a:xfrm>
            <a:off x="720000" y="1611324"/>
            <a:ext cx="734700" cy="50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17" name="Google Shape;117;p21"/>
          <p:cNvSpPr txBox="1"/>
          <p:nvPr>
            <p:ph idx="3" type="title"/>
          </p:nvPr>
        </p:nvSpPr>
        <p:spPr>
          <a:xfrm>
            <a:off x="720000" y="3044627"/>
            <a:ext cx="734700" cy="50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18" name="Google Shape;118;p21"/>
          <p:cNvSpPr txBox="1"/>
          <p:nvPr>
            <p:ph idx="4" type="title"/>
          </p:nvPr>
        </p:nvSpPr>
        <p:spPr>
          <a:xfrm>
            <a:off x="3419275" y="1611324"/>
            <a:ext cx="734700" cy="50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19" name="Google Shape;119;p21"/>
          <p:cNvSpPr txBox="1"/>
          <p:nvPr>
            <p:ph idx="5" type="title"/>
          </p:nvPr>
        </p:nvSpPr>
        <p:spPr>
          <a:xfrm>
            <a:off x="3419275" y="3044627"/>
            <a:ext cx="734700" cy="50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20" name="Google Shape;120;p21"/>
          <p:cNvSpPr txBox="1"/>
          <p:nvPr>
            <p:ph idx="6" type="title"/>
          </p:nvPr>
        </p:nvSpPr>
        <p:spPr>
          <a:xfrm>
            <a:off x="6118550" y="1611324"/>
            <a:ext cx="734700" cy="50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21" name="Google Shape;121;p21"/>
          <p:cNvSpPr txBox="1"/>
          <p:nvPr>
            <p:ph idx="7" type="title"/>
          </p:nvPr>
        </p:nvSpPr>
        <p:spPr>
          <a:xfrm>
            <a:off x="6118550" y="3044627"/>
            <a:ext cx="734700" cy="50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122" name="Google Shape;122;p21"/>
          <p:cNvSpPr txBox="1"/>
          <p:nvPr>
            <p:ph idx="1" type="subTitle"/>
          </p:nvPr>
        </p:nvSpPr>
        <p:spPr>
          <a:xfrm>
            <a:off x="720000" y="2293450"/>
            <a:ext cx="23055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 problema</a:t>
            </a:r>
          </a:p>
        </p:txBody>
      </p:sp>
      <p:sp>
        <p:nvSpPr>
          <p:cNvPr id="123" name="Google Shape;123;p21"/>
          <p:cNvSpPr txBox="1"/>
          <p:nvPr>
            <p:ph idx="8" type="subTitle"/>
          </p:nvPr>
        </p:nvSpPr>
        <p:spPr>
          <a:xfrm>
            <a:off x="3419275" y="2293450"/>
            <a:ext cx="23055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El reto</a:t>
            </a:r>
          </a:p>
        </p:txBody>
      </p:sp>
      <p:sp>
        <p:nvSpPr>
          <p:cNvPr id="124" name="Google Shape;124;p21"/>
          <p:cNvSpPr txBox="1"/>
          <p:nvPr>
            <p:ph idx="9" type="subTitle"/>
          </p:nvPr>
        </p:nvSpPr>
        <p:spPr>
          <a:xfrm>
            <a:off x="6118550" y="2293450"/>
            <a:ext cx="23055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La solución</a:t>
            </a:r>
          </a:p>
        </p:txBody>
      </p:sp>
      <p:sp>
        <p:nvSpPr>
          <p:cNvPr id="125" name="Google Shape;125;p21"/>
          <p:cNvSpPr txBox="1"/>
          <p:nvPr>
            <p:ph idx="13" type="subTitle"/>
          </p:nvPr>
        </p:nvSpPr>
        <p:spPr>
          <a:xfrm>
            <a:off x="720000" y="3726825"/>
            <a:ext cx="23814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Datos oficiales</a:t>
            </a:r>
          </a:p>
        </p:txBody>
      </p:sp>
      <p:sp>
        <p:nvSpPr>
          <p:cNvPr id="126" name="Google Shape;126;p21"/>
          <p:cNvSpPr txBox="1"/>
          <p:nvPr>
            <p:ph idx="14" type="subTitle"/>
          </p:nvPr>
        </p:nvSpPr>
        <p:spPr>
          <a:xfrm>
            <a:off x="3419275" y="3726825"/>
            <a:ext cx="23055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Uso empresarial</a:t>
            </a:r>
          </a:p>
        </p:txBody>
      </p:sp>
      <p:sp>
        <p:nvSpPr>
          <p:cNvPr id="127" name="Google Shape;127;p21"/>
          <p:cNvSpPr txBox="1"/>
          <p:nvPr>
            <p:ph idx="15" type="subTitle"/>
          </p:nvPr>
        </p:nvSpPr>
        <p:spPr>
          <a:xfrm>
            <a:off x="6118550" y="3726825"/>
            <a:ext cx="24792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Uso público</a:t>
            </a:r>
          </a:p>
        </p:txBody>
      </p:sp>
      <p:cxnSp>
        <p:nvCxnSpPr>
          <p:cNvPr id="128" name="Google Shape;128;p21"/>
          <p:cNvCxnSpPr/>
          <p:nvPr/>
        </p:nvCxnSpPr>
        <p:spPr>
          <a:xfrm>
            <a:off x="821254" y="3560313"/>
            <a:ext cx="1205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" name="Google Shape;129;p21"/>
          <p:cNvCxnSpPr/>
          <p:nvPr/>
        </p:nvCxnSpPr>
        <p:spPr>
          <a:xfrm>
            <a:off x="3503733" y="3560313"/>
            <a:ext cx="1205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" name="Google Shape;130;p21"/>
          <p:cNvCxnSpPr/>
          <p:nvPr/>
        </p:nvCxnSpPr>
        <p:spPr>
          <a:xfrm>
            <a:off x="6143983" y="3560313"/>
            <a:ext cx="1205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" name="Google Shape;131;p21"/>
          <p:cNvCxnSpPr/>
          <p:nvPr/>
        </p:nvCxnSpPr>
        <p:spPr>
          <a:xfrm>
            <a:off x="821254" y="2116088"/>
            <a:ext cx="1205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" name="Google Shape;132;p21"/>
          <p:cNvCxnSpPr/>
          <p:nvPr/>
        </p:nvCxnSpPr>
        <p:spPr>
          <a:xfrm>
            <a:off x="3503733" y="2116088"/>
            <a:ext cx="1205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" name="Google Shape;133;p21"/>
          <p:cNvCxnSpPr/>
          <p:nvPr/>
        </p:nvCxnSpPr>
        <p:spPr>
          <a:xfrm>
            <a:off x="6143983" y="2116088"/>
            <a:ext cx="1205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/>
          <p:nvPr/>
        </p:nvSpPr>
        <p:spPr>
          <a:xfrm>
            <a:off x="3370189" y="1234703"/>
            <a:ext cx="3369300" cy="3369300"/>
          </a:xfrm>
          <a:prstGeom prst="arc">
            <a:avLst>
              <a:gd fmla="val 18922329" name="adj1"/>
              <a:gd fmla="val 2678793" name="adj2"/>
            </a:avLst>
          </a:prstGeom>
          <a:noFill/>
          <a:ln cap="flat" cmpd="sng" w="1905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F9F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2"/>
          <p:cNvSpPr/>
          <p:nvPr/>
        </p:nvSpPr>
        <p:spPr>
          <a:xfrm flipH="1">
            <a:off x="2403114" y="1234703"/>
            <a:ext cx="3369300" cy="3369300"/>
          </a:xfrm>
          <a:prstGeom prst="arc">
            <a:avLst>
              <a:gd fmla="val 18922329" name="adj1"/>
              <a:gd fmla="val 2678793" name="adj2"/>
            </a:avLst>
          </a:prstGeom>
          <a:noFill/>
          <a:ln cap="flat" cmpd="sng" w="1905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F9F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2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Dos públicos, una misma base de datos</a:t>
            </a:r>
          </a:p>
        </p:txBody>
      </p:sp>
      <p:sp>
        <p:nvSpPr>
          <p:cNvPr id="141" name="Google Shape;141;p22"/>
          <p:cNvSpPr/>
          <p:nvPr/>
        </p:nvSpPr>
        <p:spPr>
          <a:xfrm>
            <a:off x="3120724" y="1951093"/>
            <a:ext cx="1934100" cy="1934100"/>
          </a:xfrm>
          <a:prstGeom prst="ellipse">
            <a:avLst/>
          </a:prstGeom>
          <a:solidFill>
            <a:schemeClr val="dk2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2"/>
          <p:cNvSpPr/>
          <p:nvPr/>
        </p:nvSpPr>
        <p:spPr>
          <a:xfrm>
            <a:off x="4087797" y="1951093"/>
            <a:ext cx="1934100" cy="19341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2"/>
          <p:cNvSpPr/>
          <p:nvPr/>
        </p:nvSpPr>
        <p:spPr>
          <a:xfrm>
            <a:off x="4087797" y="2081528"/>
            <a:ext cx="968439" cy="1675642"/>
          </a:xfrm>
          <a:custGeom>
            <a:rect b="b" l="l" r="r" t="t"/>
            <a:pathLst>
              <a:path extrusionOk="0" h="2219393" w="1282700">
                <a:moveTo>
                  <a:pt x="641350" y="0"/>
                </a:moveTo>
                <a:lnTo>
                  <a:pt x="717170" y="46061"/>
                </a:lnTo>
                <a:cubicBezTo>
                  <a:pt x="1058371" y="276572"/>
                  <a:pt x="1282700" y="666936"/>
                  <a:pt x="1282700" y="1109696"/>
                </a:cubicBezTo>
                <a:cubicBezTo>
                  <a:pt x="1282700" y="1552456"/>
                  <a:pt x="1058371" y="1942821"/>
                  <a:pt x="717170" y="2173331"/>
                </a:cubicBezTo>
                <a:lnTo>
                  <a:pt x="641350" y="2219393"/>
                </a:lnTo>
                <a:lnTo>
                  <a:pt x="565530" y="2173331"/>
                </a:lnTo>
                <a:cubicBezTo>
                  <a:pt x="224330" y="1942821"/>
                  <a:pt x="0" y="1552456"/>
                  <a:pt x="0" y="1109696"/>
                </a:cubicBezTo>
                <a:cubicBezTo>
                  <a:pt x="0" y="666936"/>
                  <a:pt x="224330" y="276572"/>
                  <a:pt x="565530" y="46061"/>
                </a:cubicBezTo>
                <a:lnTo>
                  <a:pt x="641350" y="0"/>
                </a:lnTo>
                <a:close/>
              </a:path>
            </a:pathLst>
          </a:custGeom>
          <a:solidFill>
            <a:schemeClr val="accent2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2"/>
          <p:cNvSpPr txBox="1"/>
          <p:nvPr/>
        </p:nvSpPr>
        <p:spPr>
          <a:xfrm>
            <a:off x="3277100" y="2641088"/>
            <a:ext cx="75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rPr>
              <a:t>Empresa</a:t>
            </a:r>
          </a:p>
        </p:txBody>
      </p:sp>
      <p:sp>
        <p:nvSpPr>
          <p:cNvPr id="145" name="Google Shape;145;p22"/>
          <p:cNvSpPr txBox="1"/>
          <p:nvPr/>
        </p:nvSpPr>
        <p:spPr>
          <a:xfrm>
            <a:off x="5114525" y="2641088"/>
            <a:ext cx="75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Adminis-</a:t>
            </a: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tración</a:t>
            </a:r>
          </a:p>
        </p:txBody>
      </p:sp>
      <p:sp>
        <p:nvSpPr>
          <p:cNvPr id="146" name="Google Shape;146;p22"/>
          <p:cNvSpPr txBox="1"/>
          <p:nvPr/>
        </p:nvSpPr>
        <p:spPr>
          <a:xfrm>
            <a:off x="4142561" y="2756588"/>
            <a:ext cx="858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Datos</a:t>
            </a: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CAM</a:t>
            </a:r>
          </a:p>
        </p:txBody>
      </p:sp>
      <p:sp>
        <p:nvSpPr>
          <p:cNvPr id="147" name="Google Shape;147;p22"/>
          <p:cNvSpPr/>
          <p:nvPr/>
        </p:nvSpPr>
        <p:spPr>
          <a:xfrm>
            <a:off x="6021900" y="1508925"/>
            <a:ext cx="397200" cy="3972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4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48" name="Google Shape;148;p22"/>
          <p:cNvSpPr/>
          <p:nvPr/>
        </p:nvSpPr>
        <p:spPr>
          <a:xfrm>
            <a:off x="6021900" y="3885200"/>
            <a:ext cx="397200" cy="3972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6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49" name="Google Shape;149;p22"/>
          <p:cNvSpPr/>
          <p:nvPr/>
        </p:nvSpPr>
        <p:spPr>
          <a:xfrm>
            <a:off x="6524925" y="2719550"/>
            <a:ext cx="397200" cy="3972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5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50" name="Google Shape;150;p22"/>
          <p:cNvSpPr/>
          <p:nvPr/>
        </p:nvSpPr>
        <p:spPr>
          <a:xfrm>
            <a:off x="2687288" y="1508925"/>
            <a:ext cx="397200" cy="3972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1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51" name="Google Shape;151;p22"/>
          <p:cNvSpPr/>
          <p:nvPr/>
        </p:nvSpPr>
        <p:spPr>
          <a:xfrm>
            <a:off x="2687288" y="3885200"/>
            <a:ext cx="397200" cy="3972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3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52" name="Google Shape;152;p22"/>
          <p:cNvSpPr/>
          <p:nvPr/>
        </p:nvSpPr>
        <p:spPr>
          <a:xfrm>
            <a:off x="2221863" y="2719550"/>
            <a:ext cx="397200" cy="3972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2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53" name="Google Shape;153;p22"/>
          <p:cNvSpPr txBox="1"/>
          <p:nvPr>
            <p:ph idx="4294967295" type="subTitle"/>
          </p:nvPr>
        </p:nvSpPr>
        <p:spPr>
          <a:xfrm>
            <a:off x="828475" y="1282350"/>
            <a:ext cx="12060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Poppins"/>
                <a:ea typeface="Poppins"/>
                <a:cs typeface="Poppins"/>
                <a:sym typeface="Poppins"/>
              </a:rPr>
              <a:t>Dónde ir</a:t>
            </a:r>
          </a:p>
        </p:txBody>
      </p:sp>
      <p:sp>
        <p:nvSpPr>
          <p:cNvPr id="154" name="Google Shape;154;p22"/>
          <p:cNvSpPr txBox="1"/>
          <p:nvPr>
            <p:ph idx="4294967295" type="subTitle"/>
          </p:nvPr>
        </p:nvSpPr>
        <p:spPr>
          <a:xfrm>
            <a:off x="828475" y="1577550"/>
            <a:ext cx="12060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latin typeface="Didact Gothic"/>
                <a:ea typeface="Didact Gothic"/>
                <a:cs typeface="Didact Gothic"/>
                <a:sym typeface="Didact Gothic"/>
              </a:rPr>
              <a:t>Viabilidad del entorno</a:t>
            </a:r>
          </a:p>
        </p:txBody>
      </p:sp>
      <p:sp>
        <p:nvSpPr>
          <p:cNvPr id="155" name="Google Shape;155;p22"/>
          <p:cNvSpPr txBox="1"/>
          <p:nvPr>
            <p:ph idx="4294967295" type="subTitle"/>
          </p:nvPr>
        </p:nvSpPr>
        <p:spPr>
          <a:xfrm>
            <a:off x="828475" y="2493500"/>
            <a:ext cx="12060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Poppins"/>
                <a:ea typeface="Poppins"/>
                <a:cs typeface="Poppins"/>
                <a:sym typeface="Poppins"/>
              </a:rPr>
              <a:t>Coste</a:t>
            </a:r>
          </a:p>
        </p:txBody>
      </p:sp>
      <p:sp>
        <p:nvSpPr>
          <p:cNvPr id="156" name="Google Shape;156;p22"/>
          <p:cNvSpPr txBox="1"/>
          <p:nvPr>
            <p:ph idx="4294967295" type="subTitle"/>
          </p:nvPr>
        </p:nvSpPr>
        <p:spPr>
          <a:xfrm>
            <a:off x="828475" y="2788700"/>
            <a:ext cx="12060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Didact Gothic"/>
                <a:ea typeface="Didact Gothic"/>
                <a:cs typeface="Didact Gothic"/>
                <a:sym typeface="Didact Gothic"/>
              </a:rPr>
              <a:t>Coste, talento y transporte</a:t>
            </a:r>
          </a:p>
        </p:txBody>
      </p:sp>
      <p:sp>
        <p:nvSpPr>
          <p:cNvPr id="157" name="Google Shape;157;p22"/>
          <p:cNvSpPr txBox="1"/>
          <p:nvPr>
            <p:ph idx="4294967295" type="subTitle"/>
          </p:nvPr>
        </p:nvSpPr>
        <p:spPr>
          <a:xfrm>
            <a:off x="828475" y="3704650"/>
            <a:ext cx="12060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Poppins"/>
                <a:ea typeface="Poppins"/>
                <a:cs typeface="Poppins"/>
                <a:sym typeface="Poppins"/>
              </a:rPr>
              <a:t>Apoyo</a:t>
            </a:r>
          </a:p>
        </p:txBody>
      </p:sp>
      <p:sp>
        <p:nvSpPr>
          <p:cNvPr id="158" name="Google Shape;158;p22"/>
          <p:cNvSpPr txBox="1"/>
          <p:nvPr>
            <p:ph idx="4294967295" type="subTitle"/>
          </p:nvPr>
        </p:nvSpPr>
        <p:spPr>
          <a:xfrm>
            <a:off x="828475" y="3999850"/>
            <a:ext cx="12060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Didact Gothic"/>
                <a:ea typeface="Didact Gothic"/>
                <a:cs typeface="Didact Gothic"/>
                <a:sym typeface="Didact Gothic"/>
              </a:rPr>
              <a:t>Ayudas a las que optar</a:t>
            </a:r>
          </a:p>
        </p:txBody>
      </p:sp>
      <p:sp>
        <p:nvSpPr>
          <p:cNvPr id="159" name="Google Shape;159;p22"/>
          <p:cNvSpPr txBox="1"/>
          <p:nvPr>
            <p:ph idx="4294967295" type="subTitle"/>
          </p:nvPr>
        </p:nvSpPr>
        <p:spPr>
          <a:xfrm>
            <a:off x="7109725" y="1282350"/>
            <a:ext cx="12060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Poppins"/>
                <a:ea typeface="Poppins"/>
                <a:cs typeface="Poppins"/>
                <a:sym typeface="Poppins"/>
              </a:rPr>
              <a:t>Potencial</a:t>
            </a:r>
          </a:p>
        </p:txBody>
      </p:sp>
      <p:sp>
        <p:nvSpPr>
          <p:cNvPr id="160" name="Google Shape;160;p22"/>
          <p:cNvSpPr txBox="1"/>
          <p:nvPr>
            <p:ph idx="4294967295" type="subTitle"/>
          </p:nvPr>
        </p:nvSpPr>
        <p:spPr>
          <a:xfrm>
            <a:off x="7109725" y="1577550"/>
            <a:ext cx="12060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Didact Gothic"/>
                <a:ea typeface="Didact Gothic"/>
                <a:cs typeface="Didact Gothic"/>
                <a:sym typeface="Didact Gothic"/>
              </a:rPr>
              <a:t>Dónde hay margen</a:t>
            </a:r>
          </a:p>
        </p:txBody>
      </p:sp>
      <p:sp>
        <p:nvSpPr>
          <p:cNvPr id="161" name="Google Shape;161;p22"/>
          <p:cNvSpPr txBox="1"/>
          <p:nvPr>
            <p:ph idx="4294967295" type="subTitle"/>
          </p:nvPr>
        </p:nvSpPr>
        <p:spPr>
          <a:xfrm>
            <a:off x="7109725" y="2493500"/>
            <a:ext cx="12060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Poppins"/>
                <a:ea typeface="Poppins"/>
                <a:cs typeface="Poppins"/>
                <a:sym typeface="Poppins"/>
              </a:rPr>
              <a:t>Freno</a:t>
            </a:r>
          </a:p>
        </p:txBody>
      </p:sp>
      <p:sp>
        <p:nvSpPr>
          <p:cNvPr id="162" name="Google Shape;162;p22"/>
          <p:cNvSpPr txBox="1"/>
          <p:nvPr>
            <p:ph idx="4294967295" type="subTitle"/>
          </p:nvPr>
        </p:nvSpPr>
        <p:spPr>
          <a:xfrm>
            <a:off x="7109725" y="2788700"/>
            <a:ext cx="12060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Didact Gothic"/>
                <a:ea typeface="Didact Gothic"/>
                <a:cs typeface="Didact Gothic"/>
                <a:sym typeface="Didact Gothic"/>
              </a:rPr>
              <a:t>Factor que limita</a:t>
            </a:r>
          </a:p>
        </p:txBody>
      </p:sp>
      <p:sp>
        <p:nvSpPr>
          <p:cNvPr id="163" name="Google Shape;163;p22"/>
          <p:cNvSpPr txBox="1"/>
          <p:nvPr>
            <p:ph idx="4294967295" type="subTitle"/>
          </p:nvPr>
        </p:nvSpPr>
        <p:spPr>
          <a:xfrm>
            <a:off x="7109725" y="3704650"/>
            <a:ext cx="12060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Poppins"/>
                <a:ea typeface="Poppins"/>
                <a:cs typeface="Poppins"/>
                <a:sym typeface="Poppins"/>
              </a:rPr>
              <a:t>Política</a:t>
            </a:r>
          </a:p>
        </p:txBody>
      </p:sp>
      <p:sp>
        <p:nvSpPr>
          <p:cNvPr id="164" name="Google Shape;164;p22"/>
          <p:cNvSpPr txBox="1"/>
          <p:nvPr>
            <p:ph idx="4294967295" type="subTitle"/>
          </p:nvPr>
        </p:nvSpPr>
        <p:spPr>
          <a:xfrm>
            <a:off x="7109725" y="3999850"/>
            <a:ext cx="12060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Didact Gothic"/>
                <a:ea typeface="Didact Gothic"/>
                <a:cs typeface="Didact Gothic"/>
                <a:sym typeface="Didact Gothic"/>
              </a:rPr>
              <a:t>Escenarios simulados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/>
          <p:nvPr/>
        </p:nvSpPr>
        <p:spPr>
          <a:xfrm rot="5400000">
            <a:off x="4987675" y="1515525"/>
            <a:ext cx="2410800" cy="27429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9BACCA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99" name="Google Shape;199;p24"/>
          <p:cNvSpPr/>
          <p:nvPr/>
        </p:nvSpPr>
        <p:spPr>
          <a:xfrm rot="5400000">
            <a:off x="3788575" y="391975"/>
            <a:ext cx="3085800" cy="49920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9BACCA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00" name="Google Shape;200;p24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 actividad se concentra en la capital</a:t>
            </a:r>
          </a:p>
        </p:txBody>
      </p:sp>
      <p:sp>
        <p:nvSpPr>
          <p:cNvPr id="203" name="Google Shape;203;p24"/>
          <p:cNvSpPr/>
          <p:nvPr/>
        </p:nvSpPr>
        <p:spPr>
          <a:xfrm>
            <a:off x="1273725" y="1335625"/>
            <a:ext cx="3104700" cy="3104700"/>
          </a:xfrm>
          <a:prstGeom prst="ellipse">
            <a:avLst/>
          </a:prstGeom>
          <a:solidFill>
            <a:schemeClr val="dk2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04" name="Google Shape;204;p24"/>
          <p:cNvSpPr/>
          <p:nvPr/>
        </p:nvSpPr>
        <p:spPr>
          <a:xfrm>
            <a:off x="3579825" y="1673725"/>
            <a:ext cx="2428500" cy="2428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05" name="Google Shape;205;p24"/>
          <p:cNvSpPr/>
          <p:nvPr/>
        </p:nvSpPr>
        <p:spPr>
          <a:xfrm>
            <a:off x="5659525" y="2058325"/>
            <a:ext cx="1659300" cy="16593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06" name="Google Shape;206;p24"/>
          <p:cNvSpPr txBox="1"/>
          <p:nvPr>
            <p:ph idx="4294967295" type="subTitle"/>
          </p:nvPr>
        </p:nvSpPr>
        <p:spPr>
          <a:xfrm>
            <a:off x="1980800" y="2265400"/>
            <a:ext cx="1314300" cy="50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49,1 %</a:t>
            </a:r>
          </a:p>
        </p:txBody>
      </p:sp>
      <p:sp>
        <p:nvSpPr>
          <p:cNvPr id="207" name="Google Shape;207;p24"/>
          <p:cNvSpPr txBox="1"/>
          <p:nvPr>
            <p:ph idx="4294967295" type="subTitle"/>
          </p:nvPr>
        </p:nvSpPr>
        <p:spPr>
          <a:xfrm>
            <a:off x="1980800" y="2661238"/>
            <a:ext cx="13143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Población</a:t>
            </a:r>
          </a:p>
        </p:txBody>
      </p:sp>
      <p:sp>
        <p:nvSpPr>
          <p:cNvPr id="208" name="Google Shape;208;p24"/>
          <p:cNvSpPr txBox="1"/>
          <p:nvPr>
            <p:ph idx="4294967295" type="subTitle"/>
          </p:nvPr>
        </p:nvSpPr>
        <p:spPr>
          <a:xfrm>
            <a:off x="1980800" y="2956438"/>
            <a:ext cx="13143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lt1"/>
                </a:solidFill>
              </a:rPr>
              <a:t>vive en Madrid capital</a:t>
            </a:r>
          </a:p>
        </p:txBody>
      </p:sp>
      <p:sp>
        <p:nvSpPr>
          <p:cNvPr id="209" name="Google Shape;209;p24"/>
          <p:cNvSpPr txBox="1"/>
          <p:nvPr>
            <p:ph idx="4294967295" type="subTitle"/>
          </p:nvPr>
        </p:nvSpPr>
        <p:spPr>
          <a:xfrm>
            <a:off x="4018825" y="2265400"/>
            <a:ext cx="1314300" cy="50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56,3 %</a:t>
            </a:r>
          </a:p>
        </p:txBody>
      </p:sp>
      <p:sp>
        <p:nvSpPr>
          <p:cNvPr id="210" name="Google Shape;210;p24"/>
          <p:cNvSpPr txBox="1"/>
          <p:nvPr>
            <p:ph idx="4294967295" type="subTitle"/>
          </p:nvPr>
        </p:nvSpPr>
        <p:spPr>
          <a:xfrm>
            <a:off x="4018825" y="2661238"/>
            <a:ext cx="13143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Empresas</a:t>
            </a:r>
          </a:p>
        </p:txBody>
      </p:sp>
      <p:sp>
        <p:nvSpPr>
          <p:cNvPr id="211" name="Google Shape;211;p24"/>
          <p:cNvSpPr txBox="1"/>
          <p:nvPr>
            <p:ph idx="4294967295" type="subTitle"/>
          </p:nvPr>
        </p:nvSpPr>
        <p:spPr>
          <a:xfrm>
            <a:off x="4018825" y="2956438"/>
            <a:ext cx="13143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lt1"/>
                </a:solidFill>
              </a:rPr>
              <a:t>de las unidades productivas</a:t>
            </a:r>
          </a:p>
        </p:txBody>
      </p:sp>
      <p:sp>
        <p:nvSpPr>
          <p:cNvPr id="212" name="Google Shape;212;p24"/>
          <p:cNvSpPr txBox="1"/>
          <p:nvPr>
            <p:ph idx="4294967295" type="subTitle"/>
          </p:nvPr>
        </p:nvSpPr>
        <p:spPr>
          <a:xfrm>
            <a:off x="5832025" y="2265400"/>
            <a:ext cx="1314300" cy="50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Poppins"/>
                <a:ea typeface="Poppins"/>
                <a:cs typeface="Poppins"/>
                <a:sym typeface="Poppins"/>
              </a:rPr>
              <a:t>64,3 %</a:t>
            </a:r>
          </a:p>
        </p:txBody>
      </p:sp>
      <p:sp>
        <p:nvSpPr>
          <p:cNvPr id="213" name="Google Shape;213;p24"/>
          <p:cNvSpPr txBox="1"/>
          <p:nvPr>
            <p:ph idx="4294967295" type="subTitle"/>
          </p:nvPr>
        </p:nvSpPr>
        <p:spPr>
          <a:xfrm>
            <a:off x="5832025" y="2661238"/>
            <a:ext cx="13143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Poppins"/>
                <a:ea typeface="Poppins"/>
                <a:cs typeface="Poppins"/>
                <a:sym typeface="Poppins"/>
              </a:rPr>
              <a:t>Empleo</a:t>
            </a:r>
          </a:p>
        </p:txBody>
      </p:sp>
      <p:sp>
        <p:nvSpPr>
          <p:cNvPr id="214" name="Google Shape;214;p24"/>
          <p:cNvSpPr txBox="1"/>
          <p:nvPr>
            <p:ph idx="4294967295" type="subTitle"/>
          </p:nvPr>
        </p:nvSpPr>
        <p:spPr>
          <a:xfrm>
            <a:off x="5832025" y="2956438"/>
            <a:ext cx="13143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/>
              <a:t>afiliado se ubica en la capital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722376" y="4443984"/>
            <a:ext cx="770839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1B1B1B"/>
                </a:solidFill>
                <a:latin typeface="Didact Gothic"/>
              </a:rPr>
              <a:t>Madrid capital ocupa el 7,5 % del territorio. </a:t>
            </a:r>
            <a:r>
              <a:rPr sz="1000" b="0">
                <a:solidFill>
                  <a:srgbClr val="1B1B1B"/>
                </a:solidFill>
                <a:latin typeface="Didact Gothic"/>
              </a:rPr>
              <a:t>142 de los 179 municipios tienen menos de 20.000 habitantes y reúnen solo el 8,8 % de la población.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722376" y="4736592"/>
            <a:ext cx="770839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55B68"/>
                </a:solidFill>
                <a:latin typeface="Didact Gothic"/>
              </a:rPr>
              <a:t>Fuente: elaboración propia con datos del Instituto de Estadística de la Comunidad de Madrid (padrón 2025, colectivo empresarial 2025, afiliación 2025)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0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 solución en cuatro pasos</a:t>
            </a:r>
          </a:p>
        </p:txBody>
      </p:sp>
      <p:sp>
        <p:nvSpPr>
          <p:cNvPr id="466" name="Google Shape;466;p30"/>
          <p:cNvSpPr/>
          <p:nvPr/>
        </p:nvSpPr>
        <p:spPr>
          <a:xfrm>
            <a:off x="2567766" y="3537723"/>
            <a:ext cx="1066283" cy="1066283"/>
          </a:xfrm>
          <a:custGeom>
            <a:rect b="b" l="l" r="r" t="t"/>
            <a:pathLst>
              <a:path extrusionOk="0" h="369" w="370">
                <a:moveTo>
                  <a:pt x="0" y="184"/>
                </a:moveTo>
                <a:lnTo>
                  <a:pt x="0" y="184"/>
                </a:lnTo>
                <a:cubicBezTo>
                  <a:pt x="0" y="286"/>
                  <a:pt x="82" y="368"/>
                  <a:pt x="185" y="368"/>
                </a:cubicBezTo>
                <a:lnTo>
                  <a:pt x="185" y="368"/>
                </a:lnTo>
                <a:cubicBezTo>
                  <a:pt x="285" y="368"/>
                  <a:pt x="369" y="286"/>
                  <a:pt x="369" y="184"/>
                </a:cubicBezTo>
                <a:lnTo>
                  <a:pt x="369" y="184"/>
                </a:lnTo>
                <a:cubicBezTo>
                  <a:pt x="369" y="81"/>
                  <a:pt x="285" y="0"/>
                  <a:pt x="185" y="0"/>
                </a:cubicBezTo>
                <a:lnTo>
                  <a:pt x="185" y="0"/>
                </a:lnTo>
                <a:cubicBezTo>
                  <a:pt x="82" y="0"/>
                  <a:pt x="0" y="81"/>
                  <a:pt x="0" y="184"/>
                </a:cubicBezTo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Paso 1</a:t>
            </a:r>
          </a:p>
        </p:txBody>
      </p:sp>
      <p:sp>
        <p:nvSpPr>
          <p:cNvPr id="467" name="Google Shape;467;p30"/>
          <p:cNvSpPr/>
          <p:nvPr/>
        </p:nvSpPr>
        <p:spPr>
          <a:xfrm>
            <a:off x="3462203" y="2781601"/>
            <a:ext cx="1066283" cy="1066283"/>
          </a:xfrm>
          <a:custGeom>
            <a:rect b="b" l="l" r="r" t="t"/>
            <a:pathLst>
              <a:path extrusionOk="0" h="369" w="370">
                <a:moveTo>
                  <a:pt x="0" y="184"/>
                </a:moveTo>
                <a:lnTo>
                  <a:pt x="0" y="184"/>
                </a:lnTo>
                <a:cubicBezTo>
                  <a:pt x="0" y="286"/>
                  <a:pt x="82" y="368"/>
                  <a:pt x="185" y="368"/>
                </a:cubicBezTo>
                <a:lnTo>
                  <a:pt x="185" y="368"/>
                </a:lnTo>
                <a:cubicBezTo>
                  <a:pt x="285" y="368"/>
                  <a:pt x="369" y="286"/>
                  <a:pt x="369" y="184"/>
                </a:cubicBezTo>
                <a:lnTo>
                  <a:pt x="369" y="184"/>
                </a:lnTo>
                <a:cubicBezTo>
                  <a:pt x="369" y="81"/>
                  <a:pt x="285" y="0"/>
                  <a:pt x="185" y="0"/>
                </a:cubicBezTo>
                <a:lnTo>
                  <a:pt x="185" y="0"/>
                </a:lnTo>
                <a:cubicBezTo>
                  <a:pt x="82" y="0"/>
                  <a:pt x="0" y="81"/>
                  <a:pt x="0" y="184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Paso 2</a:t>
            </a:r>
          </a:p>
        </p:txBody>
      </p:sp>
      <p:sp>
        <p:nvSpPr>
          <p:cNvPr id="468" name="Google Shape;468;p30"/>
          <p:cNvSpPr/>
          <p:nvPr/>
        </p:nvSpPr>
        <p:spPr>
          <a:xfrm>
            <a:off x="4614828" y="2781601"/>
            <a:ext cx="1066283" cy="1066283"/>
          </a:xfrm>
          <a:custGeom>
            <a:rect b="b" l="l" r="r" t="t"/>
            <a:pathLst>
              <a:path extrusionOk="0" h="369" w="370">
                <a:moveTo>
                  <a:pt x="0" y="184"/>
                </a:moveTo>
                <a:lnTo>
                  <a:pt x="0" y="184"/>
                </a:lnTo>
                <a:cubicBezTo>
                  <a:pt x="0" y="286"/>
                  <a:pt x="82" y="368"/>
                  <a:pt x="185" y="368"/>
                </a:cubicBezTo>
                <a:lnTo>
                  <a:pt x="185" y="368"/>
                </a:lnTo>
                <a:cubicBezTo>
                  <a:pt x="285" y="368"/>
                  <a:pt x="369" y="286"/>
                  <a:pt x="369" y="184"/>
                </a:cubicBezTo>
                <a:lnTo>
                  <a:pt x="369" y="184"/>
                </a:lnTo>
                <a:cubicBezTo>
                  <a:pt x="369" y="81"/>
                  <a:pt x="285" y="0"/>
                  <a:pt x="185" y="0"/>
                </a:cubicBezTo>
                <a:lnTo>
                  <a:pt x="185" y="0"/>
                </a:lnTo>
                <a:cubicBezTo>
                  <a:pt x="82" y="0"/>
                  <a:pt x="0" y="81"/>
                  <a:pt x="0" y="18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Paso 3</a:t>
            </a:r>
          </a:p>
        </p:txBody>
      </p:sp>
      <p:sp>
        <p:nvSpPr>
          <p:cNvPr id="469" name="Google Shape;469;p30"/>
          <p:cNvSpPr/>
          <p:nvPr/>
        </p:nvSpPr>
        <p:spPr>
          <a:xfrm>
            <a:off x="5509266" y="3537723"/>
            <a:ext cx="1066283" cy="1066283"/>
          </a:xfrm>
          <a:custGeom>
            <a:rect b="b" l="l" r="r" t="t"/>
            <a:pathLst>
              <a:path extrusionOk="0" h="369" w="370">
                <a:moveTo>
                  <a:pt x="0" y="184"/>
                </a:moveTo>
                <a:lnTo>
                  <a:pt x="0" y="184"/>
                </a:lnTo>
                <a:cubicBezTo>
                  <a:pt x="0" y="286"/>
                  <a:pt x="82" y="368"/>
                  <a:pt x="185" y="368"/>
                </a:cubicBezTo>
                <a:lnTo>
                  <a:pt x="185" y="368"/>
                </a:lnTo>
                <a:cubicBezTo>
                  <a:pt x="285" y="368"/>
                  <a:pt x="369" y="286"/>
                  <a:pt x="369" y="184"/>
                </a:cubicBezTo>
                <a:lnTo>
                  <a:pt x="369" y="184"/>
                </a:lnTo>
                <a:cubicBezTo>
                  <a:pt x="369" y="81"/>
                  <a:pt x="285" y="0"/>
                  <a:pt x="185" y="0"/>
                </a:cubicBezTo>
                <a:lnTo>
                  <a:pt x="185" y="0"/>
                </a:lnTo>
                <a:cubicBezTo>
                  <a:pt x="82" y="0"/>
                  <a:pt x="0" y="81"/>
                  <a:pt x="0" y="184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Paso 4</a:t>
            </a:r>
          </a:p>
        </p:txBody>
      </p:sp>
      <p:cxnSp>
        <p:nvCxnSpPr>
          <p:cNvPr id="470" name="Google Shape;470;p30"/>
          <p:cNvCxnSpPr/>
          <p:nvPr/>
        </p:nvCxnSpPr>
        <p:spPr>
          <a:xfrm>
            <a:off x="2014915" y="3026756"/>
            <a:ext cx="638400" cy="576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miter lim="800000"/>
            <a:headEnd len="sm" w="sm" type="oval"/>
            <a:tailEnd len="sm" w="sm" type="none"/>
          </a:ln>
        </p:spPr>
      </p:cxnSp>
      <p:cxnSp>
        <p:nvCxnSpPr>
          <p:cNvPr id="471" name="Google Shape;471;p30"/>
          <p:cNvCxnSpPr/>
          <p:nvPr/>
        </p:nvCxnSpPr>
        <p:spPr>
          <a:xfrm flipH="1">
            <a:off x="6473890" y="3035390"/>
            <a:ext cx="655200" cy="5682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oval"/>
            <a:tailEnd len="sm" w="sm" type="none"/>
          </a:ln>
        </p:spPr>
      </p:cxnSp>
      <p:cxnSp>
        <p:nvCxnSpPr>
          <p:cNvPr id="472" name="Google Shape;472;p30"/>
          <p:cNvCxnSpPr/>
          <p:nvPr/>
        </p:nvCxnSpPr>
        <p:spPr>
          <a:xfrm>
            <a:off x="3556826" y="2271484"/>
            <a:ext cx="228000" cy="4509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miter lim="800000"/>
            <a:headEnd len="sm" w="sm" type="oval"/>
            <a:tailEnd len="sm" w="sm" type="none"/>
          </a:ln>
        </p:spPr>
      </p:cxnSp>
      <p:cxnSp>
        <p:nvCxnSpPr>
          <p:cNvPr id="473" name="Google Shape;473;p30"/>
          <p:cNvCxnSpPr/>
          <p:nvPr/>
        </p:nvCxnSpPr>
        <p:spPr>
          <a:xfrm flipH="1">
            <a:off x="5338693" y="2267075"/>
            <a:ext cx="220200" cy="455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oval"/>
            <a:tailEnd len="sm" w="sm" type="none"/>
          </a:ln>
        </p:spPr>
      </p:cxnSp>
      <p:sp>
        <p:nvSpPr>
          <p:cNvPr id="474" name="Google Shape;474;p30"/>
          <p:cNvSpPr txBox="1"/>
          <p:nvPr>
            <p:ph idx="4294967295" type="subTitle"/>
          </p:nvPr>
        </p:nvSpPr>
        <p:spPr>
          <a:xfrm>
            <a:off x="720000" y="1939775"/>
            <a:ext cx="14580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Poppins"/>
                <a:ea typeface="Poppins"/>
                <a:cs typeface="Poppins"/>
                <a:sym typeface="Poppins"/>
              </a:rPr>
              <a:t>Filtros duros</a:t>
            </a:r>
          </a:p>
        </p:txBody>
      </p:sp>
      <p:sp>
        <p:nvSpPr>
          <p:cNvPr id="475" name="Google Shape;475;p30"/>
          <p:cNvSpPr txBox="1"/>
          <p:nvPr>
            <p:ph idx="4294967295" type="subTitle"/>
          </p:nvPr>
        </p:nvSpPr>
        <p:spPr>
          <a:xfrm>
            <a:off x="720000" y="2234975"/>
            <a:ext cx="1458000" cy="6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/>
              <a:t>Fuera lo no negociable para la empresa</a:t>
            </a:r>
          </a:p>
        </p:txBody>
      </p:sp>
      <p:sp>
        <p:nvSpPr>
          <p:cNvPr id="476" name="Google Shape;476;p30"/>
          <p:cNvSpPr txBox="1"/>
          <p:nvPr>
            <p:ph idx="4294967295" type="subTitle"/>
          </p:nvPr>
        </p:nvSpPr>
        <p:spPr>
          <a:xfrm>
            <a:off x="2178000" y="1216638"/>
            <a:ext cx="14580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Poppins"/>
                <a:ea typeface="Poppins"/>
                <a:cs typeface="Poppins"/>
                <a:sym typeface="Poppins"/>
              </a:rPr>
              <a:t>GA²M</a:t>
            </a:r>
          </a:p>
        </p:txBody>
      </p:sp>
      <p:sp>
        <p:nvSpPr>
          <p:cNvPr id="477" name="Google Shape;477;p30"/>
          <p:cNvSpPr txBox="1"/>
          <p:nvPr>
            <p:ph idx="4294967295" type="subTitle"/>
          </p:nvPr>
        </p:nvSpPr>
        <p:spPr>
          <a:xfrm>
            <a:off x="2178000" y="1511838"/>
            <a:ext cx="1458000" cy="6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/>
              <a:t>Puntúa la viabilidad de cada municipio</a:t>
            </a:r>
          </a:p>
        </p:txBody>
      </p:sp>
      <p:sp>
        <p:nvSpPr>
          <p:cNvPr id="478" name="Google Shape;478;p30"/>
          <p:cNvSpPr txBox="1"/>
          <p:nvPr>
            <p:ph idx="4294967295" type="subTitle"/>
          </p:nvPr>
        </p:nvSpPr>
        <p:spPr>
          <a:xfrm>
            <a:off x="5558900" y="1216638"/>
            <a:ext cx="14580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Poppins"/>
                <a:ea typeface="Poppins"/>
                <a:cs typeface="Poppins"/>
                <a:sym typeface="Poppins"/>
              </a:rPr>
              <a:t>Red bayesiana</a:t>
            </a:r>
          </a:p>
        </p:txBody>
      </p:sp>
      <p:sp>
        <p:nvSpPr>
          <p:cNvPr id="479" name="Google Shape;479;p30"/>
          <p:cNvSpPr txBox="1"/>
          <p:nvPr>
            <p:ph idx="4294967295" type="subTitle"/>
          </p:nvPr>
        </p:nvSpPr>
        <p:spPr>
          <a:xfrm>
            <a:off x="5558900" y="1511838"/>
            <a:ext cx="1458000" cy="6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/>
              <a:t>Explica las causas y simula políticas</a:t>
            </a:r>
          </a:p>
        </p:txBody>
      </p:sp>
      <p:sp>
        <p:nvSpPr>
          <p:cNvPr id="480" name="Google Shape;480;p30"/>
          <p:cNvSpPr txBox="1"/>
          <p:nvPr>
            <p:ph idx="4294967295" type="subTitle"/>
          </p:nvPr>
        </p:nvSpPr>
        <p:spPr>
          <a:xfrm>
            <a:off x="6972775" y="1939775"/>
            <a:ext cx="14580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Poppins"/>
                <a:ea typeface="Poppins"/>
                <a:cs typeface="Poppins"/>
                <a:sym typeface="Poppins"/>
              </a:rPr>
              <a:t>Preferencias</a:t>
            </a:r>
          </a:p>
        </p:txBody>
      </p:sp>
      <p:sp>
        <p:nvSpPr>
          <p:cNvPr id="481" name="Google Shape;481;p30"/>
          <p:cNvSpPr txBox="1"/>
          <p:nvPr>
            <p:ph idx="4294967295" type="subTitle"/>
          </p:nvPr>
        </p:nvSpPr>
        <p:spPr>
          <a:xfrm>
            <a:off x="6972775" y="2234975"/>
            <a:ext cx="1458000" cy="6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/>
              <a:t>Transporte, ayudas y coste con peso visible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37"/>
          <p:cNvSpPr txBox="1"/>
          <p:nvPr>
            <p:ph type="title"/>
          </p:nvPr>
        </p:nvSpPr>
        <p:spPr>
          <a:xfrm>
            <a:off x="1355163" y="73120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Gracias</a:t>
            </a:r>
          </a:p>
        </p:txBody>
      </p:sp>
      <p:sp>
        <p:nvSpPr>
          <p:cNvPr id="735" name="Google Shape;735;p37"/>
          <p:cNvSpPr txBox="1"/>
          <p:nvPr>
            <p:ph idx="1" type="subTitle"/>
          </p:nvPr>
        </p:nvSpPr>
        <p:spPr>
          <a:xfrm>
            <a:off x="1355125" y="198445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Gregorio García Velasco · UC3M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Guillermo Franco Gimeno · UPM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Madrid 179 · Localización inteligente de oficinas</a:t>
            </a:r>
          </a:p>
        </p:txBody>
      </p:sp>
      <p:cxnSp>
        <p:nvCxnSpPr>
          <p:cNvPr id="737" name="Google Shape;737;p37"/>
          <p:cNvCxnSpPr/>
          <p:nvPr/>
        </p:nvCxnSpPr>
        <p:spPr>
          <a:xfrm>
            <a:off x="1431100" y="1838775"/>
            <a:ext cx="5835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Datos oficiales </a:t>
            </a:r>
            <a:r>
              <a:rPr b="0"/>
              <a:t>de la Comunidad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2376" y="1325880"/>
            <a:ext cx="1755648" cy="1371600"/>
          </a:xfrm>
          <a:prstGeom prst="roundRect">
            <a:avLst>
              <a:gd name="adj" fmla="val 8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1463040"/>
            <a:ext cx="14264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374768"/>
                </a:solidFill>
                <a:latin typeface="Poppins"/>
              </a:rPr>
              <a:t>179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1965960"/>
            <a:ext cx="142646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55B68"/>
                </a:solidFill>
                <a:latin typeface="Didact Gothic"/>
              </a:rPr>
              <a:t>municipios unidos por su código 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06624" y="1325880"/>
            <a:ext cx="1755648" cy="1371600"/>
          </a:xfrm>
          <a:prstGeom prst="roundRect">
            <a:avLst>
              <a:gd name="adj" fmla="val 8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71216" y="1463040"/>
            <a:ext cx="14264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374768"/>
                </a:solidFill>
                <a:latin typeface="Poppins"/>
              </a:rPr>
              <a:t>621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71216" y="1965960"/>
            <a:ext cx="142646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55B68"/>
                </a:solidFill>
                <a:latin typeface="Didact Gothic"/>
              </a:rPr>
              <a:t>tablas municipales del portal de datos abiertos de la Comunidad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90872" y="1325880"/>
            <a:ext cx="1755648" cy="1371600"/>
          </a:xfrm>
          <a:prstGeom prst="roundRect">
            <a:avLst>
              <a:gd name="adj" fmla="val 8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55464" y="1463040"/>
            <a:ext cx="14264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374768"/>
                </a:solidFill>
                <a:latin typeface="Poppins"/>
              </a:rPr>
              <a:t>8 de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5464" y="1965960"/>
            <a:ext cx="142646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55B68"/>
                </a:solidFill>
                <a:latin typeface="Didact Gothic"/>
              </a:rPr>
              <a:t>variables del modelo obtenidas de fuentes de la Comunidad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325880"/>
            <a:ext cx="1755648" cy="1371600"/>
          </a:xfrm>
          <a:prstGeom prst="roundRect">
            <a:avLst>
              <a:gd name="adj" fmla="val 8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39712" y="1463040"/>
            <a:ext cx="14264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374768"/>
                </a:solidFill>
                <a:latin typeface="Poppins"/>
              </a:rPr>
              <a:t>2.263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9712" y="1965960"/>
            <a:ext cx="142646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55B68"/>
                </a:solidFill>
                <a:latin typeface="Didact Gothic"/>
              </a:rPr>
              <a:t>conjuntos de datos catalogados en datos.comunidad.madrid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2907792"/>
            <a:ext cx="7708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74768"/>
                </a:solidFill>
                <a:latin typeface="Poppins"/>
              </a:rPr>
              <a:t>Organismos de la Comunidad de Madrid que alimentan el sistema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" y="3291840"/>
            <a:ext cx="2447543" cy="384048"/>
          </a:xfrm>
          <a:prstGeom prst="roundRect">
            <a:avLst>
              <a:gd name="adj" fmla="val 50000"/>
            </a:avLst>
          </a:prstGeom>
          <a:solidFill>
            <a:srgbClr val="3747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3291840"/>
            <a:ext cx="244754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Didact Gothic"/>
              </a:rPr>
              <a:t>Instituto de Estadística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52800" y="3291840"/>
            <a:ext cx="2447543" cy="384048"/>
          </a:xfrm>
          <a:prstGeom prst="roundRect">
            <a:avLst>
              <a:gd name="adj" fmla="val 50000"/>
            </a:avLst>
          </a:prstGeom>
          <a:solidFill>
            <a:srgbClr val="3747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52800" y="3291840"/>
            <a:ext cx="244754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Didact Gothic"/>
              </a:rPr>
              <a:t>Portal de datos abiertos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3224" y="3291840"/>
            <a:ext cx="2447543" cy="384048"/>
          </a:xfrm>
          <a:prstGeom prst="roundRect">
            <a:avLst>
              <a:gd name="adj" fmla="val 50000"/>
            </a:avLst>
          </a:prstGeom>
          <a:solidFill>
            <a:srgbClr val="3747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3224" y="3291840"/>
            <a:ext cx="244754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Didact Gothic"/>
              </a:rPr>
              <a:t>Consorcio Regional de Transportes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376" y="3794760"/>
            <a:ext cx="2447543" cy="384048"/>
          </a:xfrm>
          <a:prstGeom prst="roundRect">
            <a:avLst>
              <a:gd name="adj" fmla="val 50000"/>
            </a:avLst>
          </a:prstGeom>
          <a:solidFill>
            <a:srgbClr val="435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" y="3794760"/>
            <a:ext cx="244754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Didact Gothic"/>
              </a:rPr>
              <a:t>Geoportal IDEM y cartografía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52800" y="3794760"/>
            <a:ext cx="2447543" cy="384048"/>
          </a:xfrm>
          <a:prstGeom prst="roundRect">
            <a:avLst>
              <a:gd name="adj" fmla="val 50000"/>
            </a:avLst>
          </a:prstGeom>
          <a:solidFill>
            <a:srgbClr val="435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52800" y="3794760"/>
            <a:ext cx="244754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Didact Gothic"/>
              </a:rPr>
              <a:t>D. G. de Economía e Industria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83224" y="3794760"/>
            <a:ext cx="2447543" cy="384048"/>
          </a:xfrm>
          <a:prstGeom prst="roundRect">
            <a:avLst>
              <a:gd name="adj" fmla="val 50000"/>
            </a:avLst>
          </a:prstGeom>
          <a:solidFill>
            <a:srgbClr val="435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83224" y="3794760"/>
            <a:ext cx="244754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Didact Gothic"/>
              </a:rPr>
              <a:t>Portal del Suelo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" y="4736592"/>
            <a:ext cx="770839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55B68"/>
                </a:solidFill>
                <a:latin typeface="Didact Gothic"/>
              </a:rPr>
              <a:t>Se complementan con INE, Dirección General del Catastro, Seguridad Social, BDNS y OpenStreetMap. Detalle en el documento de fuentes.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Cómo razona </a:t>
            </a:r>
            <a:r>
              <a:rPr b="0"/>
              <a:t>el sistema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1325880"/>
            <a:ext cx="24231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100" b="1">
                <a:solidFill>
                  <a:srgbClr val="1B1B1B"/>
                </a:solidFill>
                <a:latin typeface="Didact Gothic"/>
              </a:rPr>
              <a:t>Una red de causas </a:t>
            </a:r>
            <a:r>
              <a:rPr sz="1100" b="0">
                <a:solidFill>
                  <a:srgbClr val="1B1B1B"/>
                </a:solidFill>
                <a:latin typeface="Didact Gothic"/>
              </a:rPr>
              <a:t>que conecta el territorio con la viabilidad de una empresa.</a:t>
            </a:r>
          </a:p>
          <a:p>
            <a:pPr algn="l">
              <a:spcAft>
                <a:spcPts val="900"/>
              </a:spcAft>
            </a:pPr>
            <a:r>
              <a:rPr sz="1100" b="1">
                <a:solidFill>
                  <a:srgbClr val="1B1B1B"/>
                </a:solidFill>
                <a:latin typeface="Didact Gothic"/>
              </a:rPr>
              <a:t>Explicable: </a:t>
            </a:r>
            <a:r>
              <a:rPr sz="1100" b="0">
                <a:solidFill>
                  <a:srgbClr val="1B1B1B"/>
                </a:solidFill>
                <a:latin typeface="Didact Gothic"/>
              </a:rPr>
              <a:t>cada recomendación dice qué factores la empujan y cuáles la frenan.</a:t>
            </a:r>
          </a:p>
          <a:p>
            <a:pPr algn="l">
              <a:spcAft>
                <a:spcPts val="900"/>
              </a:spcAft>
            </a:pPr>
            <a:r>
              <a:rPr sz="1100" b="1">
                <a:solidFill>
                  <a:srgbClr val="1B1B1B"/>
                </a:solidFill>
                <a:latin typeface="Didact Gothic"/>
              </a:rPr>
              <a:t>Única para toda la región: </a:t>
            </a:r>
            <a:r>
              <a:rPr sz="1100" b="0">
                <a:solidFill>
                  <a:srgbClr val="1B1B1B"/>
                </a:solidFill>
                <a:latin typeface="Didact Gothic"/>
              </a:rPr>
              <a:t>el mismo razonamiento para los 179 municipios.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2376" y="3611880"/>
            <a:ext cx="2423160" cy="960120"/>
          </a:xfrm>
          <a:prstGeom prst="roundRect">
            <a:avLst>
              <a:gd name="adj" fmla="val 8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70332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374768"/>
                </a:solidFill>
                <a:latin typeface="Didact Gothic"/>
              </a:rPr>
              <a:t>Un GA²M</a:t>
            </a:r>
            <a:r>
              <a:rPr sz="1050" b="0">
                <a:solidFill>
                  <a:srgbClr val="1B1B1B"/>
                </a:solidFill>
                <a:latin typeface="Didact Gothic"/>
              </a:rPr>
              <a:t> ordena los municipios; la red bayesiana explica el porqué y permite simular políticas.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3886200" y="1682496"/>
            <a:ext cx="685800" cy="493776"/>
          </a:xfrm>
          <a:prstGeom prst="line">
            <a:avLst/>
          </a:prstGeom>
          <a:ln w="19050">
            <a:solidFill>
              <a:srgbClr val="9BACC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0" y="1682496"/>
            <a:ext cx="548640" cy="493776"/>
          </a:xfrm>
          <a:prstGeom prst="line">
            <a:avLst/>
          </a:prstGeom>
          <a:ln w="19050">
            <a:solidFill>
              <a:srgbClr val="9BACC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0" y="1682496"/>
            <a:ext cx="1783080" cy="493776"/>
          </a:xfrm>
          <a:prstGeom prst="line">
            <a:avLst/>
          </a:prstGeom>
          <a:ln w="19050">
            <a:solidFill>
              <a:srgbClr val="9BACC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5120640" y="1682496"/>
            <a:ext cx="1691640" cy="493776"/>
          </a:xfrm>
          <a:prstGeom prst="line">
            <a:avLst/>
          </a:prstGeom>
          <a:ln w="19050">
            <a:solidFill>
              <a:srgbClr val="9BACC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6355080" y="1682496"/>
            <a:ext cx="457200" cy="493776"/>
          </a:xfrm>
          <a:prstGeom prst="line">
            <a:avLst/>
          </a:prstGeom>
          <a:ln w="19050">
            <a:solidFill>
              <a:srgbClr val="9BACC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12280" y="1682496"/>
            <a:ext cx="594360" cy="1426464"/>
          </a:xfrm>
          <a:prstGeom prst="line">
            <a:avLst/>
          </a:prstGeom>
          <a:ln w="19050">
            <a:solidFill>
              <a:srgbClr val="9BACC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60920" y="1463040"/>
            <a:ext cx="274320" cy="0"/>
          </a:xfrm>
          <a:prstGeom prst="line">
            <a:avLst/>
          </a:prstGeom>
          <a:ln w="19050">
            <a:solidFill>
              <a:srgbClr val="9BACC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355080" y="2615184"/>
            <a:ext cx="1051560" cy="493776"/>
          </a:xfrm>
          <a:prstGeom prst="line">
            <a:avLst/>
          </a:prstGeom>
          <a:ln w="19050">
            <a:solidFill>
              <a:srgbClr val="9BACC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120640" y="2615184"/>
            <a:ext cx="640080" cy="1426464"/>
          </a:xfrm>
          <a:prstGeom prst="line">
            <a:avLst/>
          </a:prstGeom>
          <a:ln w="19050">
            <a:solidFill>
              <a:srgbClr val="9BACC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5760720" y="3547872"/>
            <a:ext cx="1645920" cy="493776"/>
          </a:xfrm>
          <a:prstGeom prst="line">
            <a:avLst/>
          </a:prstGeom>
          <a:ln w="19050">
            <a:solidFill>
              <a:srgbClr val="9BACC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023360" y="1243584"/>
            <a:ext cx="1097280" cy="438912"/>
          </a:xfrm>
          <a:prstGeom prst="roundRect">
            <a:avLst>
              <a:gd name="adj" fmla="val 25000"/>
            </a:avLst>
          </a:prstGeom>
          <a:solidFill>
            <a:srgbClr val="435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80" y="1243584"/>
            <a:ext cx="1005839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Poppins"/>
              </a:rPr>
              <a:t>Talento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243584"/>
            <a:ext cx="1097280" cy="438912"/>
          </a:xfrm>
          <a:prstGeom prst="roundRect">
            <a:avLst>
              <a:gd name="adj" fmla="val 25000"/>
            </a:avLst>
          </a:prstGeom>
          <a:solidFill>
            <a:srgbClr val="435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243584"/>
            <a:ext cx="1005839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Poppins"/>
              </a:rPr>
              <a:t>Distancia Madrid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1243584"/>
            <a:ext cx="1097280" cy="438912"/>
          </a:xfrm>
          <a:prstGeom prst="roundRect">
            <a:avLst>
              <a:gd name="adj" fmla="val 25000"/>
            </a:avLst>
          </a:prstGeom>
          <a:solidFill>
            <a:srgbClr val="EEF1F8"/>
          </a:solidFill>
          <a:ln w="15875">
            <a:solidFill>
              <a:srgbClr val="C2C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0" y="1243584"/>
            <a:ext cx="1005839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>
                <a:solidFill>
                  <a:srgbClr val="374768"/>
                </a:solidFill>
                <a:latin typeface="Poppins"/>
              </a:rPr>
              <a:t>Acceso ferroviario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37560" y="2176272"/>
            <a:ext cx="1097280" cy="438912"/>
          </a:xfrm>
          <a:prstGeom prst="roundRect">
            <a:avLst>
              <a:gd name="adj" fmla="val 25000"/>
            </a:avLst>
          </a:prstGeom>
          <a:solidFill>
            <a:srgbClr val="EEF1F8"/>
          </a:solidFill>
          <a:ln w="15875">
            <a:solidFill>
              <a:srgbClr val="C2C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79" y="2176272"/>
            <a:ext cx="1005839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>
                <a:solidFill>
                  <a:srgbClr val="374768"/>
                </a:solidFill>
                <a:latin typeface="Poppins"/>
              </a:rPr>
              <a:t>Renta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2176272"/>
            <a:ext cx="1097280" cy="438912"/>
          </a:xfrm>
          <a:prstGeom prst="roundRect">
            <a:avLst>
              <a:gd name="adj" fmla="val 25000"/>
            </a:avLst>
          </a:prstGeom>
          <a:solidFill>
            <a:srgbClr val="EEF1F8"/>
          </a:solidFill>
          <a:ln w="15875">
            <a:solidFill>
              <a:srgbClr val="C2C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2176272"/>
            <a:ext cx="1005839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>
                <a:solidFill>
                  <a:srgbClr val="374768"/>
                </a:solidFill>
                <a:latin typeface="Poppins"/>
              </a:rPr>
              <a:t>Especialización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2176272"/>
            <a:ext cx="1097280" cy="438912"/>
          </a:xfrm>
          <a:prstGeom prst="roundRect">
            <a:avLst>
              <a:gd name="adj" fmla="val 25000"/>
            </a:avLst>
          </a:prstGeom>
          <a:solidFill>
            <a:srgbClr val="EEF1F8"/>
          </a:solidFill>
          <a:ln w="15875">
            <a:solidFill>
              <a:srgbClr val="C2C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0" y="2176272"/>
            <a:ext cx="1005839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>
                <a:solidFill>
                  <a:srgbClr val="374768"/>
                </a:solidFill>
                <a:latin typeface="Poppins"/>
              </a:rPr>
              <a:t>Coste inmobiliario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0" y="3108960"/>
            <a:ext cx="1097280" cy="438912"/>
          </a:xfrm>
          <a:prstGeom prst="roundRect">
            <a:avLst>
              <a:gd name="adj" fmla="val 25000"/>
            </a:avLst>
          </a:prstGeom>
          <a:solidFill>
            <a:srgbClr val="EEF1F8"/>
          </a:solidFill>
          <a:ln w="15875">
            <a:solidFill>
              <a:srgbClr val="C2C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03720" y="3108960"/>
            <a:ext cx="1005839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>
                <a:solidFill>
                  <a:srgbClr val="374768"/>
                </a:solidFill>
                <a:latin typeface="Poppins"/>
              </a:rPr>
              <a:t>Dinamismo demográfico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12080" y="4041648"/>
            <a:ext cx="1097280" cy="438912"/>
          </a:xfrm>
          <a:prstGeom prst="roundRect">
            <a:avLst>
              <a:gd name="adj" fmla="val 25000"/>
            </a:avLst>
          </a:prstGeom>
          <a:solidFill>
            <a:srgbClr val="3747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57800" y="4041648"/>
            <a:ext cx="1005839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Poppins"/>
              </a:rPr>
              <a:t>Viabilidad empresarial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Explicable </a:t>
            </a:r>
            <a:r>
              <a:rPr b="0"/>
              <a:t>de forma nativa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2376" y="1298448"/>
            <a:ext cx="3749039" cy="2240280"/>
          </a:xfrm>
          <a:prstGeom prst="roundRect">
            <a:avLst>
              <a:gd name="adj" fmla="val 8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672584" y="1298448"/>
            <a:ext cx="3749039" cy="2240280"/>
          </a:xfrm>
          <a:prstGeom prst="roundRect">
            <a:avLst>
              <a:gd name="adj" fmla="val 8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05256" y="1453896"/>
            <a:ext cx="384048" cy="384048"/>
          </a:xfrm>
          <a:prstGeom prst="ellipse">
            <a:avLst/>
          </a:prstGeom>
          <a:solidFill>
            <a:srgbClr val="3747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48132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74768"/>
                </a:solidFill>
                <a:latin typeface="Poppins"/>
              </a:rPr>
              <a:t>GA²M: cada variable suma o resta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55B68"/>
                </a:solidFill>
                <a:latin typeface="Didact Gothic"/>
              </a:rPr>
              <a:t>Puntuación = base + f(dinamismo) + f(servicios) + 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1691639" cy="2112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1B1B1B"/>
                </a:solidFill>
                <a:latin typeface="Didact Gothic"/>
              </a:rPr>
              <a:t>Dinamismo demográfico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3340946" y="2313432"/>
            <a:ext cx="751840" cy="64922"/>
          </a:xfrm>
          <a:prstGeom prst="rect">
            <a:avLst/>
          </a:prstGeom>
          <a:solidFill>
            <a:srgbClr val="9BA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47650" y="2240280"/>
            <a:ext cx="512064" cy="2112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B1B1B"/>
                </a:solidFill>
                <a:latin typeface="Didact Gothic"/>
              </a:rPr>
              <a:t>+12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42032"/>
            <a:ext cx="1691639" cy="2112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1B1B1B"/>
                </a:solidFill>
                <a:latin typeface="Didact Gothic"/>
              </a:rPr>
              <a:t>Especialización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40946" y="2615184"/>
            <a:ext cx="501226" cy="64922"/>
          </a:xfrm>
          <a:prstGeom prst="rect">
            <a:avLst/>
          </a:prstGeom>
          <a:solidFill>
            <a:srgbClr val="9BA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97037" y="2542032"/>
            <a:ext cx="512064" cy="2112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B1B1B"/>
                </a:solidFill>
                <a:latin typeface="Didact Gothic"/>
              </a:rPr>
              <a:t>+8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843784"/>
            <a:ext cx="1691639" cy="2112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1B1B1B"/>
                </a:solidFill>
                <a:latin typeface="Didact Gothic"/>
              </a:rPr>
              <a:t>Distancia a Madrid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40946" y="2916936"/>
            <a:ext cx="187960" cy="64922"/>
          </a:xfrm>
          <a:prstGeom prst="rect">
            <a:avLst/>
          </a:prstGeom>
          <a:solidFill>
            <a:srgbClr val="9BA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3770" y="2843784"/>
            <a:ext cx="512064" cy="2112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B1B1B"/>
                </a:solidFill>
                <a:latin typeface="Didact Gothic"/>
              </a:rPr>
              <a:t>+3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145536"/>
            <a:ext cx="1691639" cy="2112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1B1B1B"/>
                </a:solidFill>
                <a:latin typeface="Didact Gothic"/>
              </a:rPr>
              <a:t>Coste inmobiliario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27680" y="3218688"/>
            <a:ext cx="313266" cy="64922"/>
          </a:xfrm>
          <a:prstGeom prst="rect">
            <a:avLst/>
          </a:prstGeom>
          <a:solidFill>
            <a:srgbClr val="3747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60751" y="3145536"/>
            <a:ext cx="512064" cy="2112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1">
                <a:solidFill>
                  <a:srgbClr val="1B1B1B"/>
                </a:solidFill>
                <a:latin typeface="Didact Gothic"/>
              </a:rPr>
              <a:t>−5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340946" y="2194560"/>
            <a:ext cx="0" cy="1143000"/>
          </a:xfrm>
          <a:prstGeom prst="line">
            <a:avLst/>
          </a:prstGeom>
          <a:ln w="12700">
            <a:solidFill>
              <a:srgbClr val="555B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4855464" y="1453896"/>
            <a:ext cx="384048" cy="384048"/>
          </a:xfrm>
          <a:prstGeom prst="ellipse">
            <a:avLst/>
          </a:prstGeom>
          <a:solidFill>
            <a:srgbClr val="435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67528" y="148132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74768"/>
                </a:solidFill>
                <a:latin typeface="Poppins"/>
              </a:rPr>
              <a:t>Red bayesiana: el porqué causal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92040" y="2011680"/>
            <a:ext cx="96012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C2C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2011680"/>
            <a:ext cx="960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>
                <a:solidFill>
                  <a:srgbClr val="374768"/>
                </a:solidFill>
                <a:latin typeface="Poppins"/>
              </a:rPr>
              <a:t>Coste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852159" y="2203704"/>
            <a:ext cx="228600" cy="0"/>
          </a:xfrm>
          <a:prstGeom prst="line">
            <a:avLst/>
          </a:prstGeom>
          <a:ln w="19050">
            <a:solidFill>
              <a:srgbClr val="4356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080759" y="2011680"/>
            <a:ext cx="96012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C2C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0759" y="2011680"/>
            <a:ext cx="960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>
                <a:solidFill>
                  <a:srgbClr val="374768"/>
                </a:solidFill>
                <a:latin typeface="Poppins"/>
              </a:rPr>
              <a:t>Dinamismo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040879" y="2203704"/>
            <a:ext cx="228600" cy="0"/>
          </a:xfrm>
          <a:prstGeom prst="line">
            <a:avLst/>
          </a:prstGeom>
          <a:ln w="19050">
            <a:solidFill>
              <a:srgbClr val="4356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269479" y="2011680"/>
            <a:ext cx="960120" cy="384048"/>
          </a:xfrm>
          <a:prstGeom prst="roundRect">
            <a:avLst>
              <a:gd name="adj" fmla="val 25000"/>
            </a:avLst>
          </a:prstGeom>
          <a:solidFill>
            <a:srgbClr val="3747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69479" y="2011680"/>
            <a:ext cx="960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Poppins"/>
              </a:rPr>
              <a:t>Viabilidad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73752" y="256032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374768"/>
                </a:solidFill>
                <a:latin typeface="Didact Gothic"/>
              </a:rPr>
              <a:t>Razona en los dos sentidos: </a:t>
            </a:r>
            <a:r>
              <a:rPr sz="1050" b="0">
                <a:solidFill>
                  <a:srgbClr val="1B1B1B"/>
                </a:solidFill>
                <a:latin typeface="Didact Gothic"/>
              </a:rPr>
              <a:t>qué viabilidad cabe esperar y qué la explica.</a:t>
            </a:r>
          </a:p>
          <a:p>
            <a:pPr algn="l">
              <a:spcAft>
                <a:spcPts val="600"/>
              </a:spcAft>
            </a:pPr>
            <a:r>
              <a:rPr sz="1050" b="1">
                <a:solidFill>
                  <a:srgbClr val="374768"/>
                </a:solidFill>
                <a:latin typeface="Didact Gothic"/>
              </a:rPr>
              <a:t>Permite intervenir: </a:t>
            </a:r>
            <a:r>
              <a:rPr sz="1050" b="0">
                <a:solidFill>
                  <a:srgbClr val="1B1B1B"/>
                </a:solidFill>
                <a:latin typeface="Didact Gothic"/>
              </a:rPr>
              <a:t>¿y si baja el coste?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2376" y="3703320"/>
            <a:ext cx="3749039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2C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59536" y="3959351"/>
            <a:ext cx="347472" cy="347472"/>
          </a:xfrm>
          <a:prstGeom prst="ellipse">
            <a:avLst/>
          </a:prstGeom>
          <a:solidFill>
            <a:srgbClr val="C2C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555B68"/>
                </a:solidFill>
                <a:latin typeface="Didact Gothic"/>
              </a:rPr>
              <a:t>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3776472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555B68"/>
                </a:solidFill>
                <a:latin typeface="Didact Gothic"/>
              </a:rPr>
              <a:t>Otros modelos: caja negra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55B68"/>
                </a:solidFill>
                <a:latin typeface="Didact Gothic"/>
              </a:rPr>
              <a:t>Se explican a posteriori, de forma aproximada, inestable y difícil de auditar.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72584" y="3703320"/>
            <a:ext cx="3749039" cy="868680"/>
          </a:xfrm>
          <a:prstGeom prst="roundRect">
            <a:avLst>
              <a:gd name="adj" fmla="val 8000"/>
            </a:avLst>
          </a:prstGeom>
          <a:solidFill>
            <a:srgbClr val="3747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09744" y="3959351"/>
            <a:ext cx="347472" cy="34747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374768"/>
                </a:solidFill>
                <a:latin typeface="Didact Gothic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76088" y="3776472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FFFFFF"/>
                </a:solidFill>
                <a:latin typeface="Didact Gothic"/>
              </a:rPr>
              <a:t>Nuestra propuesta: explicable por diseño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FFFFFF"/>
                </a:solidFill>
                <a:latin typeface="Didact Gothic"/>
              </a:rPr>
              <a:t>Exacta, estable y verificable a mano: lo que se explica es lo que se calcula.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" y="4736592"/>
            <a:ext cx="770839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55B68"/>
                </a:solidFill>
                <a:latin typeface="Didact Gothic"/>
              </a:rPr>
              <a:t>Ejemplo ilustrativo: aportaciones simuladas.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Ejemplo: </a:t>
            </a:r>
            <a:r>
              <a:rPr b="0"/>
              <a:t>una empresa busca oficina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2376" y="1298448"/>
            <a:ext cx="3246120" cy="3310128"/>
          </a:xfrm>
          <a:prstGeom prst="roundRect">
            <a:avLst>
              <a:gd name="adj" fmla="val 8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453128" y="1298448"/>
            <a:ext cx="3968496" cy="3310128"/>
          </a:xfrm>
          <a:prstGeom prst="roundRect">
            <a:avLst>
              <a:gd name="adj" fmla="val 8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Arrow 4"/>
          <p:cNvSpPr/>
          <p:nvPr/>
        </p:nvSpPr>
        <p:spPr>
          <a:xfrm>
            <a:off x="4041648" y="2788920"/>
            <a:ext cx="347472" cy="329184"/>
          </a:xfrm>
          <a:prstGeom prst="rightArrow">
            <a:avLst/>
          </a:prstGeom>
          <a:solidFill>
            <a:srgbClr val="374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41732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74768"/>
                </a:solidFill>
                <a:latin typeface="Poppins"/>
              </a:rPr>
              <a:t>Entrada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755648"/>
            <a:ext cx="2926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55B68"/>
                </a:solidFill>
                <a:latin typeface="Didact Gothic"/>
              </a:rPr>
              <a:t>«Estudio de diseño de 12 personas. Presupuesto medio, Cercanías imprescindible y, si puede ser, con ayudas.»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" y="2542032"/>
            <a:ext cx="640080" cy="310896"/>
          </a:xfrm>
          <a:prstGeom prst="roundRect">
            <a:avLst>
              <a:gd name="adj" fmla="val 50000"/>
            </a:avLst>
          </a:prstGeom>
          <a:solidFill>
            <a:srgbClr val="3747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542032"/>
            <a:ext cx="6400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Didact Gothic"/>
              </a:rPr>
              <a:t>Filtro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8488" y="2542032"/>
            <a:ext cx="22402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B1B1B"/>
                </a:solidFill>
                <a:latin typeface="Didact Gothic"/>
              </a:rPr>
              <a:t>Cercanías a menos de 5 km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" y="2999232"/>
            <a:ext cx="640080" cy="310896"/>
          </a:xfrm>
          <a:prstGeom prst="roundRect">
            <a:avLst>
              <a:gd name="adj" fmla="val 50000"/>
            </a:avLst>
          </a:prstGeom>
          <a:solidFill>
            <a:srgbClr val="3747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999232"/>
            <a:ext cx="6400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Didact Gothic"/>
              </a:rPr>
              <a:t>Filtro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8488" y="2999232"/>
            <a:ext cx="22402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B1B1B"/>
                </a:solidFill>
                <a:latin typeface="Didact Gothic"/>
              </a:rPr>
              <a:t>Oferta de oficinas existente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" y="3456432"/>
            <a:ext cx="640080" cy="310896"/>
          </a:xfrm>
          <a:prstGeom prst="roundRect">
            <a:avLst>
              <a:gd name="adj" fmla="val 50000"/>
            </a:avLst>
          </a:prstGeom>
          <a:solidFill>
            <a:srgbClr val="9BA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456432"/>
            <a:ext cx="6400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374768"/>
                </a:solidFill>
                <a:latin typeface="Didact Gothic"/>
              </a:rPr>
              <a:t>Peso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18488" y="3456432"/>
            <a:ext cx="22402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B1B1B"/>
                </a:solidFill>
                <a:latin typeface="Didact Gothic"/>
              </a:rPr>
              <a:t>Coste moderado · muy importante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" y="3913631"/>
            <a:ext cx="640080" cy="310896"/>
          </a:xfrm>
          <a:prstGeom prst="roundRect">
            <a:avLst>
              <a:gd name="adj" fmla="val 50000"/>
            </a:avLst>
          </a:prstGeom>
          <a:solidFill>
            <a:srgbClr val="9BA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913631"/>
            <a:ext cx="6400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374768"/>
                </a:solidFill>
                <a:latin typeface="Didact Gothic"/>
              </a:rPr>
              <a:t>Peso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18488" y="3913631"/>
            <a:ext cx="22402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B1B1B"/>
                </a:solidFill>
                <a:latin typeface="Didact Gothic"/>
              </a:rPr>
              <a:t>Ayudas · poco importante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141732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74768"/>
                </a:solidFill>
                <a:latin typeface="Poppins"/>
              </a:rPr>
              <a:t>Salida: mejores opciones</a:t>
            </a:r>
          </a:p>
        </p:txBody>
      </p:sp>
      <p:sp>
        <p:nvSpPr>
          <p:cNvPr id="21" name="Oval 20"/>
          <p:cNvSpPr/>
          <p:nvPr/>
        </p:nvSpPr>
        <p:spPr>
          <a:xfrm>
            <a:off x="4636008" y="1828800"/>
            <a:ext cx="329184" cy="329184"/>
          </a:xfrm>
          <a:prstGeom prst="ellipse">
            <a:avLst/>
          </a:prstGeom>
          <a:solidFill>
            <a:srgbClr val="3747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1810512"/>
            <a:ext cx="2377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374768"/>
                </a:solidFill>
                <a:latin typeface="Poppins"/>
              </a:rPr>
              <a:t>Municipio 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2029967"/>
            <a:ext cx="2377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55B68"/>
                </a:solidFill>
                <a:latin typeface="Didact Gothic"/>
              </a:rPr>
              <a:t>Corredor del Henares · 45.000 hab.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1828800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700" b="1">
                <a:solidFill>
                  <a:srgbClr val="374768"/>
                </a:solidFill>
                <a:latin typeface="Poppins"/>
              </a:rPr>
              <a:t>86</a:t>
            </a:r>
          </a:p>
        </p:txBody>
      </p:sp>
      <p:sp>
        <p:nvSpPr>
          <p:cNvPr id="25" name="Oval 24"/>
          <p:cNvSpPr/>
          <p:nvPr/>
        </p:nvSpPr>
        <p:spPr>
          <a:xfrm>
            <a:off x="4636008" y="2304288"/>
            <a:ext cx="329184" cy="329184"/>
          </a:xfrm>
          <a:prstGeom prst="ellipse">
            <a:avLst/>
          </a:prstGeom>
          <a:solidFill>
            <a:srgbClr val="435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2286000"/>
            <a:ext cx="2377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374768"/>
                </a:solidFill>
                <a:latin typeface="Poppins"/>
              </a:rPr>
              <a:t>Municipio 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2505456"/>
            <a:ext cx="2377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55B68"/>
                </a:solidFill>
                <a:latin typeface="Didact Gothic"/>
              </a:rPr>
              <a:t>Sur metropolitano · 30.000 hab.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2304288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700" b="1">
                <a:solidFill>
                  <a:srgbClr val="374768"/>
                </a:solidFill>
                <a:latin typeface="Poppins"/>
              </a:rPr>
              <a:t>79</a:t>
            </a:r>
          </a:p>
        </p:txBody>
      </p:sp>
      <p:sp>
        <p:nvSpPr>
          <p:cNvPr id="29" name="Oval 28"/>
          <p:cNvSpPr/>
          <p:nvPr/>
        </p:nvSpPr>
        <p:spPr>
          <a:xfrm>
            <a:off x="4636008" y="2779776"/>
            <a:ext cx="329184" cy="329184"/>
          </a:xfrm>
          <a:prstGeom prst="ellipse">
            <a:avLst/>
          </a:prstGeom>
          <a:solidFill>
            <a:srgbClr val="435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2761488"/>
            <a:ext cx="2377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374768"/>
                </a:solidFill>
                <a:latin typeface="Poppins"/>
              </a:rPr>
              <a:t>Municipio 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2980944"/>
            <a:ext cx="2377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55B68"/>
                </a:solidFill>
                <a:latin typeface="Didact Gothic"/>
              </a:rPr>
              <a:t>Sierra Oeste · 12.000 hab.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2779776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700" b="1">
                <a:solidFill>
                  <a:srgbClr val="374768"/>
                </a:solidFill>
                <a:latin typeface="Poppins"/>
              </a:rPr>
              <a:t>74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3310128"/>
            <a:ext cx="3566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374768"/>
                </a:solidFill>
                <a:latin typeface="Poppins"/>
              </a:rPr>
              <a:t>Por qué la opción 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17720" y="3584448"/>
            <a:ext cx="2094890" cy="274320"/>
          </a:xfrm>
          <a:prstGeom prst="rect">
            <a:avLst/>
          </a:prstGeom>
          <a:solidFill>
            <a:srgbClr val="3747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17720" y="3584448"/>
            <a:ext cx="209489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Didact Gothic"/>
              </a:rPr>
              <a:t>58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12610" y="3584448"/>
            <a:ext cx="650138" cy="274320"/>
          </a:xfrm>
          <a:prstGeom prst="rect">
            <a:avLst/>
          </a:prstGeom>
          <a:solidFill>
            <a:srgbClr val="435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12610" y="3584448"/>
            <a:ext cx="65013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Didact Gothic"/>
              </a:rPr>
              <a:t>18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62748" y="3584448"/>
            <a:ext cx="361188" cy="274320"/>
          </a:xfrm>
          <a:prstGeom prst="rect">
            <a:avLst/>
          </a:prstGeom>
          <a:solidFill>
            <a:srgbClr val="9BA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62748" y="3584448"/>
            <a:ext cx="3611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374768"/>
                </a:solidFill>
                <a:latin typeface="Didact Gothic"/>
              </a:rPr>
              <a:t>10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17720" y="3968496"/>
            <a:ext cx="146304" cy="146304"/>
          </a:xfrm>
          <a:prstGeom prst="rect">
            <a:avLst/>
          </a:prstGeom>
          <a:solidFill>
            <a:srgbClr val="3747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18888" y="3922776"/>
            <a:ext cx="10058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55B68"/>
                </a:solidFill>
                <a:latin typeface="Didact Gothic"/>
              </a:rPr>
              <a:t>Viabilidad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60720" y="3968496"/>
            <a:ext cx="146304" cy="146304"/>
          </a:xfrm>
          <a:prstGeom prst="rect">
            <a:avLst/>
          </a:prstGeom>
          <a:solidFill>
            <a:srgbClr val="435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61888" y="3922776"/>
            <a:ext cx="10058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55B68"/>
                </a:solidFill>
                <a:latin typeface="Didact Gothic"/>
              </a:rPr>
              <a:t>Coste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03720" y="3968496"/>
            <a:ext cx="146304" cy="146304"/>
          </a:xfrm>
          <a:prstGeom prst="rect">
            <a:avLst/>
          </a:prstGeom>
          <a:solidFill>
            <a:srgbClr val="9BA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04888" y="3922776"/>
            <a:ext cx="10058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55B68"/>
                </a:solidFill>
                <a:latin typeface="Didact Gothic"/>
              </a:rPr>
              <a:t>Ayudas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17720" y="4224528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55B68"/>
                </a:solidFill>
                <a:latin typeface="Didact Gothic"/>
              </a:rPr>
              <a:t>Buen dinamismo demográfico y especialización en servicios; estación a 2 km.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2376" y="4736592"/>
            <a:ext cx="770839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55B68"/>
                </a:solidFill>
                <a:latin typeface="Didact Gothic"/>
              </a:rPr>
              <a:t>Ejemplo ilustrativo: los municipios y las cifras son simulados.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Ejemplo: </a:t>
            </a:r>
            <a:r>
              <a:rPr b="0"/>
              <a:t>evaluar una política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2376" y="1298448"/>
            <a:ext cx="3246120" cy="3310128"/>
          </a:xfrm>
          <a:prstGeom prst="roundRect">
            <a:avLst>
              <a:gd name="adj" fmla="val 8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453128" y="1298448"/>
            <a:ext cx="3968496" cy="3310128"/>
          </a:xfrm>
          <a:prstGeom prst="roundRect">
            <a:avLst>
              <a:gd name="adj" fmla="val 8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Arrow 4"/>
          <p:cNvSpPr/>
          <p:nvPr/>
        </p:nvSpPr>
        <p:spPr>
          <a:xfrm>
            <a:off x="4041648" y="2788920"/>
            <a:ext cx="347472" cy="329184"/>
          </a:xfrm>
          <a:prstGeom prst="rightArrow">
            <a:avLst/>
          </a:prstGeom>
          <a:solidFill>
            <a:srgbClr val="374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41732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74768"/>
                </a:solidFill>
                <a:latin typeface="Poppins"/>
              </a:rPr>
              <a:t>Entrada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8" y="182880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3747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828800"/>
            <a:ext cx="7772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Didact Gothic"/>
              </a:rPr>
              <a:t>Ámbito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1828800"/>
            <a:ext cx="2103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B1B1B"/>
                </a:solidFill>
                <a:latin typeface="Didact Gothic"/>
              </a:rPr>
              <a:t>Municipios de la Sierra Norte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" y="2395728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9BA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395728"/>
            <a:ext cx="7772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374768"/>
                </a:solidFill>
                <a:latin typeface="Didact Gothic"/>
              </a:rPr>
              <a:t>Pregunta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2395728"/>
            <a:ext cx="2103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B1B1B"/>
                </a:solidFill>
                <a:latin typeface="Didact Gothic"/>
              </a:rPr>
              <a:t>¿Qué frena al municipio X?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" y="2962656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3747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962656"/>
            <a:ext cx="7772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Didact Gothic"/>
              </a:rPr>
              <a:t>Política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2962656"/>
            <a:ext cx="2103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B1B1B"/>
                </a:solidFill>
                <a:latin typeface="Didact Gothic"/>
              </a:rPr>
              <a:t>Bonificación del alquiler de oficinas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" y="3529584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9BA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3529584"/>
            <a:ext cx="7772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374768"/>
                </a:solidFill>
                <a:latin typeface="Didact Gothic"/>
              </a:rPr>
              <a:t>Hipótesis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55648" y="3529584"/>
            <a:ext cx="2103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B1B1B"/>
                </a:solidFill>
                <a:latin typeface="Didact Gothic"/>
              </a:rPr>
              <a:t>El coste baja un nivel (editable)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141732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74768"/>
                </a:solidFill>
                <a:latin typeface="Poppins"/>
              </a:rPr>
              <a:t>Salida: diagnóstico y escenario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810512"/>
            <a:ext cx="1691639" cy="2304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1B1B1B"/>
                </a:solidFill>
                <a:latin typeface="Didact Gothic"/>
              </a:rPr>
              <a:t>Dinamismo demográfico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24356" y="1883664"/>
            <a:ext cx="1107830" cy="84124"/>
          </a:xfrm>
          <a:prstGeom prst="rect">
            <a:avLst/>
          </a:prstGeom>
          <a:solidFill>
            <a:srgbClr val="3747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57428" y="1810512"/>
            <a:ext cx="512064" cy="2304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1">
                <a:solidFill>
                  <a:srgbClr val="1B1B1B"/>
                </a:solidFill>
                <a:latin typeface="Didact Gothic"/>
              </a:rPr>
              <a:t>−0,30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139696"/>
            <a:ext cx="1691639" cy="2304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1B1B1B"/>
                </a:solidFill>
                <a:latin typeface="Didact Gothic"/>
              </a:rPr>
              <a:t>Nivel formativo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62910" y="2212848"/>
            <a:ext cx="369276" cy="84124"/>
          </a:xfrm>
          <a:prstGeom prst="rect">
            <a:avLst/>
          </a:prstGeom>
          <a:solidFill>
            <a:srgbClr val="3747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95982" y="2139696"/>
            <a:ext cx="512064" cy="2304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1">
                <a:solidFill>
                  <a:srgbClr val="1B1B1B"/>
                </a:solidFill>
                <a:latin typeface="Didact Gothic"/>
              </a:rPr>
              <a:t>−0,10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2468880"/>
            <a:ext cx="1691639" cy="2304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1B1B1B"/>
                </a:solidFill>
                <a:latin typeface="Didact Gothic"/>
              </a:rPr>
              <a:t>Especialización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47549" y="2542032"/>
            <a:ext cx="184638" cy="84124"/>
          </a:xfrm>
          <a:prstGeom prst="rect">
            <a:avLst/>
          </a:prstGeom>
          <a:solidFill>
            <a:srgbClr val="3747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80621" y="2468880"/>
            <a:ext cx="512064" cy="2304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1">
                <a:solidFill>
                  <a:srgbClr val="1B1B1B"/>
                </a:solidFill>
                <a:latin typeface="Didact Gothic"/>
              </a:rPr>
              <a:t>−0,05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2798064"/>
            <a:ext cx="1691639" cy="2304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1B1B1B"/>
                </a:solidFill>
                <a:latin typeface="Didact Gothic"/>
              </a:rPr>
              <a:t>Distancia a Madrid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32187" y="2871216"/>
            <a:ext cx="147710" cy="84124"/>
          </a:xfrm>
          <a:prstGeom prst="rect">
            <a:avLst/>
          </a:prstGeom>
          <a:solidFill>
            <a:srgbClr val="9BA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34762" y="2798064"/>
            <a:ext cx="512064" cy="2304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B1B1B"/>
                </a:solidFill>
                <a:latin typeface="Didact Gothic"/>
              </a:rPr>
              <a:t>+0,04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832187" y="1764792"/>
            <a:ext cx="0" cy="1252728"/>
          </a:xfrm>
          <a:prstGeom prst="line">
            <a:avLst/>
          </a:prstGeom>
          <a:ln w="12700">
            <a:solidFill>
              <a:srgbClr val="555B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617720" y="3200400"/>
            <a:ext cx="36118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2C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0" y="3273552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374768"/>
                </a:solidFill>
                <a:latin typeface="Didact Gothic"/>
              </a:rPr>
              <a:t>Escenario: </a:t>
            </a:r>
            <a:r>
              <a:rPr sz="1150" b="0">
                <a:solidFill>
                  <a:srgbClr val="1B1B1B"/>
                </a:solidFill>
                <a:latin typeface="Didact Gothic"/>
              </a:rPr>
              <a:t>puntuación de 22 a 29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356616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55B68"/>
                </a:solidFill>
                <a:latin typeface="Didact Gothic"/>
              </a:rPr>
              <a:t>+7 puntos (entre +3 y +11). El freno principal es demográfico: conviene combinar la ayuda con políticas que atraigan población.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" y="4736592"/>
            <a:ext cx="770839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55B68"/>
                </a:solidFill>
                <a:latin typeface="Didact Gothic"/>
              </a:rPr>
              <a:t>Ejemplo ilustrativo: el municipio y las cifras son simulados. Un escenario no es una predicción.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</a:t>
            </a:r>
            <a:r>
              <a:rPr b="0"/>
              <a:t>ligera y desacoplada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2376" y="1298448"/>
            <a:ext cx="3749039" cy="1463040"/>
          </a:xfrm>
          <a:prstGeom prst="roundRect">
            <a:avLst>
              <a:gd name="adj" fmla="val 8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1832" y="1746503"/>
            <a:ext cx="566928" cy="566928"/>
          </a:xfrm>
          <a:prstGeom prst="ellipse">
            <a:avLst/>
          </a:prstGeom>
          <a:solidFill>
            <a:srgbClr val="3747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2496" y="1618488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74768"/>
                </a:solidFill>
                <a:latin typeface="Poppins"/>
              </a:rPr>
              <a:t>Aplicación de escritorio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82496" y="2029967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B68"/>
                </a:solidFill>
                <a:latin typeface="Didact Gothic"/>
              </a:rPr>
              <a:t>React y TypeScript con Tauri o Electron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72584" y="1298448"/>
            <a:ext cx="3749039" cy="1463040"/>
          </a:xfrm>
          <a:prstGeom prst="roundRect">
            <a:avLst>
              <a:gd name="adj" fmla="val 8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892040" y="1746503"/>
            <a:ext cx="566928" cy="566928"/>
          </a:xfrm>
          <a:prstGeom prst="ellipse">
            <a:avLst/>
          </a:prstGeom>
          <a:solidFill>
            <a:srgbClr val="435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32704" y="1618488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74768"/>
                </a:solidFill>
                <a:latin typeface="Poppins"/>
              </a:rPr>
              <a:t>Mapa 3D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32704" y="2029967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B68"/>
                </a:solidFill>
                <a:latin typeface="Didact Gothic"/>
              </a:rPr>
              <a:t>MapLibre con Deck.gl, 179 municipios a 60 fps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" y="2962656"/>
            <a:ext cx="3749039" cy="1463040"/>
          </a:xfrm>
          <a:prstGeom prst="roundRect">
            <a:avLst>
              <a:gd name="adj" fmla="val 8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1832" y="3410712"/>
            <a:ext cx="566928" cy="566928"/>
          </a:xfrm>
          <a:prstGeom prst="ellipse">
            <a:avLst/>
          </a:prstGeom>
          <a:solidFill>
            <a:srgbClr val="435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82496" y="3282696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74768"/>
                </a:solidFill>
                <a:latin typeface="Poppins"/>
              </a:rPr>
              <a:t>Motores de modelo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82496" y="3694176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B68"/>
                </a:solidFill>
                <a:latin typeface="Didact Gothic"/>
              </a:rPr>
              <a:t>Python, FastAPI, pgmpy e InterpretML en memoria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72584" y="2962656"/>
            <a:ext cx="3749039" cy="1463040"/>
          </a:xfrm>
          <a:prstGeom prst="roundRect">
            <a:avLst>
              <a:gd name="adj" fmla="val 8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892040" y="3410712"/>
            <a:ext cx="566928" cy="566928"/>
          </a:xfrm>
          <a:prstGeom prst="ellipse">
            <a:avLst/>
          </a:prstGeom>
          <a:solidFill>
            <a:srgbClr val="3747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32704" y="3282696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74768"/>
                </a:solidFill>
                <a:latin typeface="Poppins"/>
              </a:rPr>
              <a:t>Datos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32704" y="3694176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B68"/>
                </a:solidFill>
                <a:latin typeface="Didact Gothic"/>
              </a:rPr>
              <a:t>Parquet y GeoJSON; sin gestor de base de datos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ycle Diagrams Theme for a Business Plan by Slidesgo">
  <a:themeElements>
    <a:clrScheme name="Simple Light">
      <a:dk1>
        <a:srgbClr val="1B1B1B"/>
      </a:dk1>
      <a:lt1>
        <a:srgbClr val="FAFAFA"/>
      </a:lt1>
      <a:dk2>
        <a:srgbClr val="374768"/>
      </a:dk2>
      <a:lt2>
        <a:srgbClr val="43567F"/>
      </a:lt2>
      <a:accent1>
        <a:srgbClr val="9BACCA"/>
      </a:accent1>
      <a:accent2>
        <a:srgbClr val="C2CDE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B1B1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